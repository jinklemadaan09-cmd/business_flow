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verview" id="{7341d8d7-f7c9-2067-6480-e5911d8e16a6}">
          <p14:sldIdLst>
            <p14:sldId id="256"/>
            <p14:sldId id="257"/>
          </p14:sldIdLst>
        </p14:section>
        <p14:section name="Phase 1" id="{1440408e-7e68-7cb1-d11a-a649e02142f5}">
          <p14:sldIdLst>
            <p14:sldId id="258"/>
          </p14:sldIdLst>
        </p14:section>
        <p14:section name="Phase 2" id="{b2534511-0bbc-21e9-5039-d68bed89e58f}">
          <p14:sldIdLst>
            <p14:sldId id="259"/>
          </p14:sldIdLst>
        </p14:section>
        <p14:section name="Phase 3" id="{f42feb2d-321a-fbfa-3242-140bd71a7009}">
          <p14:sldIdLst>
            <p14:sldId id="260"/>
          </p14:sldIdLst>
        </p14:section>
        <p14:section name="Phase 4" id="{297983f8-23d1-4704-c002-c028c2ffe46c}">
          <p14:sldIdLst>
            <p14:sldId id="261"/>
          </p14:sldIdLst>
        </p14:section>
        <p14:section name="Controls" id="{22b5d718-6245-088c-dbb9-4c648af3035c}">
          <p14:sldIdLst>
            <p14:sldId id="26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Purpose: walk management through the end-to-end customer journey, from first visit to payment closure, and the two control gates that protect margin.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each phase left to right. The only loop is at HO approval: a proposal that is not approved goes back to costing and is resubmitted. Booking cannot start before rates are locked in ERP.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Discovery builds the inputs for pricing: requirement, monthly potential, material profile and lane-branch map.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Indicative rate is not a commitment. HO checks freight, fuel, handling, FOV, FOD and docket charges against P&amp;L. Not approved means revise and resubmit.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customer code is created only after acceptance; approved rates are configured and locked before the origin branch can book.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Invoice frequency (monthly) and the credit period (15/30/90 days) are separate controls. Closure only on actual receipt.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management to confirm these five sequence points as mandatory, and to validate department labels and ERP configuration before formal issue.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703320"/>
            <a:ext cx="1069848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rgbClr val="CADCEB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320040"/>
            <a:ext cx="1124712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chemeClr val="accent6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621792"/>
            <a:ext cx="1124712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4" name="Text 0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Sugam Group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 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320040"/>
            <a:ext cx="1124712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rgbClr val="7FDCD5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621792"/>
            <a:ext cx="1124712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DB0C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Customer Journey: Visit to Collection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70332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ADCEB"/>
                </a:solidFill>
              </a:rPr>
              <a:t>How Sugam Group turns a logistics opportunity into approved, booked, billed and collected business</a:t>
            </a:r>
            <a:endParaRPr lang="en-US" sz="1800" dirty="0"/>
          </a:p>
        </p:txBody>
      </p:sp>
      <p:sp>
        <p:nvSpPr>
          <p:cNvPr id="4" name="obj1"/>
          <p:cNvSpPr txBox="1"/>
          <p:nvPr/>
        </p:nvSpPr>
        <p:spPr>
          <a:xfrm>
            <a:off x="731520" y="1463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7FDCD5"/>
                </a:solidFill>
              </a:rPr>
              <a:t>SUGAM GROUP</a:t>
            </a:r>
            <a:endParaRPr lang="en-US" sz="1300" dirty="0"/>
          </a:p>
        </p:txBody>
      </p:sp>
      <p:sp>
        <p:nvSpPr>
          <p:cNvPr id="5" name="obj2"/>
          <p:cNvSpPr txBox="1"/>
          <p:nvPr/>
        </p:nvSpPr>
        <p:spPr>
          <a:xfrm>
            <a:off x="731520" y="50292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4000" dirty="0"/>
          </a:p>
        </p:txBody>
      </p:sp>
      <p:sp>
        <p:nvSpPr>
          <p:cNvPr id="6" name="obj3"/>
          <p:cNvSpPr txBox="1"/>
          <p:nvPr/>
        </p:nvSpPr>
        <p:spPr>
          <a:xfrm>
            <a:off x="731520" y="56692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EB"/>
                </a:solidFill>
              </a:rPr>
              <a:t>Process steps</a:t>
            </a:r>
            <a:endParaRPr lang="en-US" sz="1300" dirty="0"/>
          </a:p>
        </p:txBody>
      </p:sp>
      <p:sp>
        <p:nvSpPr>
          <p:cNvPr id="7" name="obj4"/>
          <p:cNvSpPr txBox="1"/>
          <p:nvPr/>
        </p:nvSpPr>
        <p:spPr>
          <a:xfrm>
            <a:off x="2926080" y="50292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4000" dirty="0"/>
          </a:p>
        </p:txBody>
      </p:sp>
      <p:sp>
        <p:nvSpPr>
          <p:cNvPr id="8" name="obj5"/>
          <p:cNvSpPr txBox="1"/>
          <p:nvPr/>
        </p:nvSpPr>
        <p:spPr>
          <a:xfrm>
            <a:off x="2926080" y="56692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EB"/>
                </a:solidFill>
              </a:rPr>
              <a:t>Phases</a:t>
            </a:r>
            <a:endParaRPr lang="en-US" sz="1300" dirty="0"/>
          </a:p>
        </p:txBody>
      </p:sp>
      <p:sp>
        <p:nvSpPr>
          <p:cNvPr id="9" name="obj6"/>
          <p:cNvSpPr txBox="1"/>
          <p:nvPr/>
        </p:nvSpPr>
        <p:spPr>
          <a:xfrm>
            <a:off x="5120640" y="50292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4000" dirty="0"/>
          </a:p>
        </p:txBody>
      </p:sp>
      <p:sp>
        <p:nvSpPr>
          <p:cNvPr id="10" name="obj7"/>
          <p:cNvSpPr txBox="1"/>
          <p:nvPr/>
        </p:nvSpPr>
        <p:spPr>
          <a:xfrm>
            <a:off x="5120640" y="56692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EB"/>
                </a:solidFill>
              </a:rPr>
              <a:t>Control gates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32004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6"/>
                </a:solidFill>
              </a:rPr>
              <a:t>THE JOURNEY AT A GLANCE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621792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Every customer moves through 12 steps in 4 phases</a:t>
            </a:r>
            <a:endParaRPr lang="en-US" sz="3200" dirty="0"/>
          </a:p>
        </p:txBody>
      </p:sp>
      <p:sp>
        <p:nvSpPr>
          <p:cNvPr id="4" name="obj8"/>
          <p:cNvSpPr/>
          <p:nvPr/>
        </p:nvSpPr>
        <p:spPr>
          <a:xfrm>
            <a:off x="457200" y="1371600"/>
            <a:ext cx="11274552" cy="1188720"/>
          </a:xfrm>
          <a:prstGeom prst="rect">
            <a:avLst/>
          </a:prstGeom>
          <a:solidFill>
            <a:schemeClr val="accent1">
              <a:alpha val="12000"/>
            </a:schemeClr>
          </a:solidFill>
          <a:ln/>
        </p:spPr>
      </p:sp>
      <p:sp>
        <p:nvSpPr>
          <p:cNvPr id="5" name="obj9"/>
          <p:cNvSpPr txBox="1"/>
          <p:nvPr/>
        </p:nvSpPr>
        <p:spPr>
          <a:xfrm>
            <a:off x="594360" y="1508760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b="1" spc="100" kern="0" dirty="0">
                <a:solidFill>
                  <a:srgbClr val="0C7F7A"/>
                </a:solidFill>
              </a:rPr>
              <a:t>PHASE 1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chemeClr val="tx1"/>
                </a:solidFill>
              </a:rPr>
              <a:t>Sales &amp; Discovery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chemeClr val="accent6"/>
                </a:solidFill>
              </a:rPr>
              <a:t>Steps 01–04</a:t>
            </a:r>
            <a:endParaRPr lang="en-US" sz="1000" dirty="0"/>
          </a:p>
        </p:txBody>
      </p:sp>
      <p:sp>
        <p:nvSpPr>
          <p:cNvPr id="6" name="obj10"/>
          <p:cNvSpPr/>
          <p:nvPr/>
        </p:nvSpPr>
        <p:spPr>
          <a:xfrm>
            <a:off x="457200" y="2560320"/>
            <a:ext cx="11274552" cy="1417320"/>
          </a:xfrm>
          <a:prstGeom prst="rect">
            <a:avLst/>
          </a:prstGeom>
          <a:solidFill>
            <a:schemeClr val="accent2">
              <a:alpha val="12000"/>
            </a:schemeClr>
          </a:solidFill>
          <a:ln/>
        </p:spPr>
      </p:sp>
      <p:sp>
        <p:nvSpPr>
          <p:cNvPr id="7" name="obj11"/>
          <p:cNvSpPr txBox="1"/>
          <p:nvPr/>
        </p:nvSpPr>
        <p:spPr>
          <a:xfrm>
            <a:off x="594360" y="2697480"/>
            <a:ext cx="1188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b="1" spc="100" kern="0" dirty="0">
                <a:solidFill>
                  <a:srgbClr val="A8630A"/>
                </a:solidFill>
              </a:rPr>
              <a:t>PHASE 2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chemeClr val="tx1"/>
                </a:solidFill>
              </a:rPr>
              <a:t>Commercial &amp; Approval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chemeClr val="accent6"/>
                </a:solidFill>
              </a:rPr>
              <a:t>Steps 05–08</a:t>
            </a:r>
            <a:endParaRPr lang="en-US" sz="1000" dirty="0"/>
          </a:p>
        </p:txBody>
      </p:sp>
      <p:sp>
        <p:nvSpPr>
          <p:cNvPr id="8" name="obj12"/>
          <p:cNvSpPr/>
          <p:nvPr/>
        </p:nvSpPr>
        <p:spPr>
          <a:xfrm>
            <a:off x="457200" y="3977640"/>
            <a:ext cx="11274552" cy="1188720"/>
          </a:xfrm>
          <a:prstGeom prst="rect">
            <a:avLst/>
          </a:prstGeom>
          <a:solidFill>
            <a:schemeClr val="accent3">
              <a:alpha val="12000"/>
            </a:schemeClr>
          </a:solidFill>
          <a:ln/>
        </p:spPr>
      </p:sp>
      <p:sp>
        <p:nvSpPr>
          <p:cNvPr id="9" name="obj13"/>
          <p:cNvSpPr txBox="1"/>
          <p:nvPr/>
        </p:nvSpPr>
        <p:spPr>
          <a:xfrm>
            <a:off x="594360" y="4114800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b="1" spc="100" kern="0" dirty="0">
                <a:solidFill>
                  <a:srgbClr val="4B55C9"/>
                </a:solidFill>
              </a:rPr>
              <a:t>PHASE 3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chemeClr val="tx1"/>
                </a:solidFill>
              </a:rPr>
              <a:t>Onboarding &amp; Execution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chemeClr val="accent6"/>
                </a:solidFill>
              </a:rPr>
              <a:t>Steps 09–10</a:t>
            </a:r>
            <a:endParaRPr lang="en-US" sz="1000" dirty="0"/>
          </a:p>
        </p:txBody>
      </p:sp>
      <p:sp>
        <p:nvSpPr>
          <p:cNvPr id="10" name="obj14"/>
          <p:cNvSpPr/>
          <p:nvPr/>
        </p:nvSpPr>
        <p:spPr>
          <a:xfrm>
            <a:off x="457200" y="5166360"/>
            <a:ext cx="11274552" cy="1188720"/>
          </a:xfrm>
          <a:prstGeom prst="rect">
            <a:avLst/>
          </a:prstGeom>
          <a:solidFill>
            <a:schemeClr val="accent4">
              <a:alpha val="12000"/>
            </a:schemeClr>
          </a:solidFill>
          <a:ln/>
        </p:spPr>
      </p:sp>
      <p:sp>
        <p:nvSpPr>
          <p:cNvPr id="11" name="obj15"/>
          <p:cNvSpPr txBox="1"/>
          <p:nvPr/>
        </p:nvSpPr>
        <p:spPr>
          <a:xfrm>
            <a:off x="594360" y="5303520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b="1" spc="100" kern="0" dirty="0">
                <a:solidFill>
                  <a:srgbClr val="23824F"/>
                </a:solidFill>
              </a:rPr>
              <a:t>PHASE 4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chemeClr val="tx1"/>
                </a:solidFill>
              </a:rPr>
              <a:t>Billing &amp; Collection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chemeClr val="accent6"/>
                </a:solidFill>
              </a:rPr>
              <a:t>Steps 11–12</a:t>
            </a:r>
            <a:endParaRPr lang="en-US" sz="1000" dirty="0"/>
          </a:p>
        </p:txBody>
      </p:sp>
      <p:sp>
        <p:nvSpPr>
          <p:cNvPr id="12" name="obj16"/>
          <p:cNvSpPr/>
          <p:nvPr/>
        </p:nvSpPr>
        <p:spPr>
          <a:xfrm>
            <a:off x="1874520" y="1627632"/>
            <a:ext cx="1783080" cy="658368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/>
        </p:spPr>
      </p:sp>
      <p:sp>
        <p:nvSpPr>
          <p:cNvPr id="13" name="obj17"/>
          <p:cNvSpPr txBox="1"/>
          <p:nvPr/>
        </p:nvSpPr>
        <p:spPr>
          <a:xfrm>
            <a:off x="1965960" y="1673352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7FDCD5"/>
                </a:solidFill>
              </a:rPr>
              <a:t>START</a:t>
            </a:r>
            <a:endParaRPr lang="en-US" sz="900" dirty="0"/>
          </a:p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New customer opportunity</a:t>
            </a:r>
            <a:endParaRPr lang="en-US" sz="900" dirty="0"/>
          </a:p>
        </p:txBody>
      </p:sp>
      <p:sp>
        <p:nvSpPr>
          <p:cNvPr id="14" name="obj18"/>
          <p:cNvSpPr/>
          <p:nvPr/>
        </p:nvSpPr>
        <p:spPr>
          <a:xfrm>
            <a:off x="3858768" y="1627632"/>
            <a:ext cx="1783080" cy="658368"/>
          </a:xfrm>
          <a:prstGeom prst="roundRect">
            <a:avLst>
              <a:gd name="adj" fmla="val 11111"/>
            </a:avLst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15" name="obj19"/>
          <p:cNvSpPr txBox="1"/>
          <p:nvPr/>
        </p:nvSpPr>
        <p:spPr>
          <a:xfrm>
            <a:off x="3950208" y="1682496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C7F7A"/>
                </a:solidFill>
              </a:rPr>
              <a:t>STEP 01</a:t>
            </a:r>
            <a:endParaRPr lang="en-US" sz="900" dirty="0"/>
          </a:p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Customer Visit</a:t>
            </a:r>
            <a:endParaRPr lang="en-US" sz="900" dirty="0"/>
          </a:p>
        </p:txBody>
      </p:sp>
      <p:sp>
        <p:nvSpPr>
          <p:cNvPr id="16" name="obj20"/>
          <p:cNvSpPr/>
          <p:nvPr/>
        </p:nvSpPr>
        <p:spPr>
          <a:xfrm>
            <a:off x="5843016" y="1627632"/>
            <a:ext cx="1783080" cy="658368"/>
          </a:xfrm>
          <a:prstGeom prst="roundRect">
            <a:avLst>
              <a:gd name="adj" fmla="val 11111"/>
            </a:avLst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17" name="obj21"/>
          <p:cNvSpPr txBox="1"/>
          <p:nvPr/>
        </p:nvSpPr>
        <p:spPr>
          <a:xfrm>
            <a:off x="5934456" y="1682496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C7F7A"/>
                </a:solidFill>
              </a:rPr>
              <a:t>STEP 02</a:t>
            </a:r>
            <a:endParaRPr lang="en-US" sz="900" dirty="0"/>
          </a:p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Monthly Business Potential</a:t>
            </a:r>
            <a:endParaRPr lang="en-US" sz="900" dirty="0"/>
          </a:p>
        </p:txBody>
      </p:sp>
      <p:sp>
        <p:nvSpPr>
          <p:cNvPr id="18" name="obj22"/>
          <p:cNvSpPr/>
          <p:nvPr/>
        </p:nvSpPr>
        <p:spPr>
          <a:xfrm>
            <a:off x="7827264" y="1627632"/>
            <a:ext cx="1783080" cy="658368"/>
          </a:xfrm>
          <a:prstGeom prst="roundRect">
            <a:avLst>
              <a:gd name="adj" fmla="val 11111"/>
            </a:avLst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19" name="obj23"/>
          <p:cNvSpPr txBox="1"/>
          <p:nvPr/>
        </p:nvSpPr>
        <p:spPr>
          <a:xfrm>
            <a:off x="7918704" y="1682496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C7F7A"/>
                </a:solidFill>
              </a:rPr>
              <a:t>STEP 03</a:t>
            </a:r>
            <a:endParaRPr lang="en-US" sz="900" dirty="0"/>
          </a:p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Material Understanding</a:t>
            </a:r>
            <a:endParaRPr lang="en-US" sz="900" dirty="0"/>
          </a:p>
        </p:txBody>
      </p:sp>
      <p:sp>
        <p:nvSpPr>
          <p:cNvPr id="20" name="obj24"/>
          <p:cNvSpPr/>
          <p:nvPr/>
        </p:nvSpPr>
        <p:spPr>
          <a:xfrm>
            <a:off x="9811512" y="1627632"/>
            <a:ext cx="1783080" cy="658368"/>
          </a:xfrm>
          <a:prstGeom prst="roundRect">
            <a:avLst>
              <a:gd name="adj" fmla="val 11111"/>
            </a:avLst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21" name="obj25"/>
          <p:cNvSpPr txBox="1"/>
          <p:nvPr/>
        </p:nvSpPr>
        <p:spPr>
          <a:xfrm>
            <a:off x="9902952" y="1682496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C7F7A"/>
                </a:solidFill>
              </a:rPr>
              <a:t>STEP 04</a:t>
            </a:r>
            <a:endParaRPr lang="en-US" sz="900" dirty="0"/>
          </a:p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Origin &amp; Destination Mapping</a:t>
            </a:r>
            <a:endParaRPr lang="en-US" sz="900" dirty="0"/>
          </a:p>
        </p:txBody>
      </p:sp>
      <p:sp>
        <p:nvSpPr>
          <p:cNvPr id="22" name="obj26"/>
          <p:cNvSpPr/>
          <p:nvPr/>
        </p:nvSpPr>
        <p:spPr>
          <a:xfrm>
            <a:off x="3858768" y="2798064"/>
            <a:ext cx="1783080" cy="658368"/>
          </a:xfrm>
          <a:prstGeom prst="roundRect">
            <a:avLst>
              <a:gd name="adj" fmla="val 11111"/>
            </a:avLst>
          </a:prstGeom>
          <a:solidFill>
            <a:schemeClr val="bg1"/>
          </a:solidFill>
          <a:ln w="15875">
            <a:solidFill>
              <a:schemeClr val="accent2"/>
            </a:solidFill>
            <a:prstDash val="solid"/>
          </a:ln>
        </p:spPr>
      </p:sp>
      <p:sp>
        <p:nvSpPr>
          <p:cNvPr id="23" name="obj27"/>
          <p:cNvSpPr txBox="1"/>
          <p:nvPr/>
        </p:nvSpPr>
        <p:spPr>
          <a:xfrm>
            <a:off x="3950208" y="2852928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A8630A"/>
                </a:solidFill>
              </a:rPr>
              <a:t>STEP 05</a:t>
            </a:r>
            <a:endParaRPr lang="en-US" sz="900" dirty="0"/>
          </a:p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Indicative Rate Discussion</a:t>
            </a:r>
            <a:endParaRPr lang="en-US" sz="900" dirty="0"/>
          </a:p>
        </p:txBody>
      </p:sp>
      <p:sp>
        <p:nvSpPr>
          <p:cNvPr id="24" name="obj28"/>
          <p:cNvSpPr/>
          <p:nvPr/>
        </p:nvSpPr>
        <p:spPr>
          <a:xfrm>
            <a:off x="5843016" y="2798064"/>
            <a:ext cx="1783080" cy="658368"/>
          </a:xfrm>
          <a:prstGeom prst="roundRect">
            <a:avLst>
              <a:gd name="adj" fmla="val 11111"/>
            </a:avLst>
          </a:prstGeom>
          <a:solidFill>
            <a:schemeClr val="bg1"/>
          </a:solidFill>
          <a:ln w="15875">
            <a:solidFill>
              <a:schemeClr val="accent2"/>
            </a:solidFill>
            <a:prstDash val="solid"/>
          </a:ln>
        </p:spPr>
      </p:sp>
      <p:sp>
        <p:nvSpPr>
          <p:cNvPr id="25" name="obj29"/>
          <p:cNvSpPr txBox="1"/>
          <p:nvPr/>
        </p:nvSpPr>
        <p:spPr>
          <a:xfrm>
            <a:off x="5934456" y="2852928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A8630A"/>
                </a:solidFill>
              </a:rPr>
              <a:t>STEP 06</a:t>
            </a:r>
            <a:endParaRPr lang="en-US" sz="900" dirty="0"/>
          </a:p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HO Costing &amp; P&amp;L Review</a:t>
            </a:r>
            <a:endParaRPr lang="en-US" sz="900" dirty="0"/>
          </a:p>
        </p:txBody>
      </p:sp>
      <p:sp>
        <p:nvSpPr>
          <p:cNvPr id="26" name="obj30"/>
          <p:cNvSpPr/>
          <p:nvPr/>
        </p:nvSpPr>
        <p:spPr>
          <a:xfrm>
            <a:off x="9811512" y="2798064"/>
            <a:ext cx="1783080" cy="658368"/>
          </a:xfrm>
          <a:prstGeom prst="roundRect">
            <a:avLst>
              <a:gd name="adj" fmla="val 11111"/>
            </a:avLst>
          </a:prstGeom>
          <a:solidFill>
            <a:schemeClr val="bg1"/>
          </a:solidFill>
          <a:ln w="15875">
            <a:solidFill>
              <a:schemeClr val="accent2"/>
            </a:solidFill>
            <a:prstDash val="solid"/>
          </a:ln>
        </p:spPr>
      </p:sp>
      <p:sp>
        <p:nvSpPr>
          <p:cNvPr id="27" name="obj31"/>
          <p:cNvSpPr txBox="1"/>
          <p:nvPr/>
        </p:nvSpPr>
        <p:spPr>
          <a:xfrm>
            <a:off x="9902952" y="2852928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A8630A"/>
                </a:solidFill>
              </a:rPr>
              <a:t>STEP 08</a:t>
            </a:r>
            <a:endParaRPr lang="en-US" sz="900" dirty="0"/>
          </a:p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Final Quotation &amp; Acceptance</a:t>
            </a:r>
            <a:endParaRPr lang="en-US" sz="900" dirty="0"/>
          </a:p>
        </p:txBody>
      </p:sp>
      <p:sp>
        <p:nvSpPr>
          <p:cNvPr id="28" name="obj32"/>
          <p:cNvSpPr/>
          <p:nvPr/>
        </p:nvSpPr>
        <p:spPr>
          <a:xfrm>
            <a:off x="3858768" y="4224528"/>
            <a:ext cx="1783080" cy="658368"/>
          </a:xfrm>
          <a:prstGeom prst="roundRect">
            <a:avLst>
              <a:gd name="adj" fmla="val 11111"/>
            </a:avLst>
          </a:prstGeom>
          <a:solidFill>
            <a:schemeClr val="bg1"/>
          </a:solidFill>
          <a:ln w="34925">
            <a:solidFill>
              <a:schemeClr val="accent5"/>
            </a:solidFill>
            <a:prstDash val="solid"/>
          </a:ln>
        </p:spPr>
      </p:sp>
      <p:sp>
        <p:nvSpPr>
          <p:cNvPr id="29" name="obj33"/>
          <p:cNvSpPr txBox="1"/>
          <p:nvPr/>
        </p:nvSpPr>
        <p:spPr>
          <a:xfrm>
            <a:off x="3950208" y="4279392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4B55C9"/>
                </a:solidFill>
              </a:rPr>
              <a:t>STEP 09</a:t>
            </a:r>
            <a:endParaRPr lang="en-US" sz="900" dirty="0"/>
          </a:p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Customer Code &amp; ERP Rate Lock</a:t>
            </a:r>
            <a:endParaRPr lang="en-US" sz="900" dirty="0"/>
          </a:p>
        </p:txBody>
      </p:sp>
      <p:sp>
        <p:nvSpPr>
          <p:cNvPr id="30" name="obj34"/>
          <p:cNvSpPr/>
          <p:nvPr/>
        </p:nvSpPr>
        <p:spPr>
          <a:xfrm>
            <a:off x="5843016" y="4224528"/>
            <a:ext cx="1783080" cy="658368"/>
          </a:xfrm>
          <a:prstGeom prst="roundRect">
            <a:avLst>
              <a:gd name="adj" fmla="val 11111"/>
            </a:avLst>
          </a:prstGeom>
          <a:solidFill>
            <a:schemeClr val="bg1"/>
          </a:solidFill>
          <a:ln w="15875">
            <a:solidFill>
              <a:schemeClr val="accent3"/>
            </a:solidFill>
            <a:prstDash val="solid"/>
          </a:ln>
        </p:spPr>
      </p:sp>
      <p:sp>
        <p:nvSpPr>
          <p:cNvPr id="31" name="obj35"/>
          <p:cNvSpPr txBox="1"/>
          <p:nvPr/>
        </p:nvSpPr>
        <p:spPr>
          <a:xfrm>
            <a:off x="5934456" y="4279392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4B55C9"/>
                </a:solidFill>
              </a:rPr>
              <a:t>STEP 10</a:t>
            </a:r>
            <a:endParaRPr lang="en-US" sz="900" dirty="0"/>
          </a:p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Origin Branch Booking</a:t>
            </a:r>
            <a:endParaRPr lang="en-US" sz="900" dirty="0"/>
          </a:p>
        </p:txBody>
      </p:sp>
      <p:sp>
        <p:nvSpPr>
          <p:cNvPr id="32" name="obj36"/>
          <p:cNvSpPr/>
          <p:nvPr/>
        </p:nvSpPr>
        <p:spPr>
          <a:xfrm>
            <a:off x="3858768" y="5413248"/>
            <a:ext cx="1783080" cy="658368"/>
          </a:xfrm>
          <a:prstGeom prst="roundRect">
            <a:avLst>
              <a:gd name="adj" fmla="val 11111"/>
            </a:avLst>
          </a:prstGeom>
          <a:solidFill>
            <a:schemeClr val="bg1"/>
          </a:solidFill>
          <a:ln w="15875">
            <a:solidFill>
              <a:schemeClr val="accent4"/>
            </a:solidFill>
            <a:prstDash val="solid"/>
          </a:ln>
        </p:spPr>
      </p:sp>
      <p:sp>
        <p:nvSpPr>
          <p:cNvPr id="33" name="obj37"/>
          <p:cNvSpPr txBox="1"/>
          <p:nvPr/>
        </p:nvSpPr>
        <p:spPr>
          <a:xfrm>
            <a:off x="3950208" y="5468112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23824F"/>
                </a:solidFill>
              </a:rPr>
              <a:t>STEP 11</a:t>
            </a:r>
            <a:endParaRPr lang="en-US" sz="900" dirty="0"/>
          </a:p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Monthly Billing &amp; Credit Terms</a:t>
            </a:r>
            <a:endParaRPr lang="en-US" sz="900" dirty="0"/>
          </a:p>
        </p:txBody>
      </p:sp>
      <p:sp>
        <p:nvSpPr>
          <p:cNvPr id="34" name="obj38"/>
          <p:cNvSpPr/>
          <p:nvPr/>
        </p:nvSpPr>
        <p:spPr>
          <a:xfrm>
            <a:off x="5843016" y="5413248"/>
            <a:ext cx="1783080" cy="658368"/>
          </a:xfrm>
          <a:prstGeom prst="roundRect">
            <a:avLst>
              <a:gd name="adj" fmla="val 11111"/>
            </a:avLst>
          </a:prstGeom>
          <a:solidFill>
            <a:schemeClr val="bg1"/>
          </a:solidFill>
          <a:ln w="15875">
            <a:solidFill>
              <a:schemeClr val="accent4"/>
            </a:solidFill>
            <a:prstDash val="solid"/>
          </a:ln>
        </p:spPr>
      </p:sp>
      <p:sp>
        <p:nvSpPr>
          <p:cNvPr id="35" name="obj39"/>
          <p:cNvSpPr txBox="1"/>
          <p:nvPr/>
        </p:nvSpPr>
        <p:spPr>
          <a:xfrm>
            <a:off x="5934456" y="5468112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23824F"/>
                </a:solidFill>
              </a:rPr>
              <a:t>STEP 12</a:t>
            </a:r>
            <a:endParaRPr lang="en-US" sz="900" dirty="0"/>
          </a:p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Payment Follow-up &amp; Closure</a:t>
            </a:r>
            <a:endParaRPr lang="en-US" sz="900" dirty="0"/>
          </a:p>
        </p:txBody>
      </p:sp>
      <p:sp>
        <p:nvSpPr>
          <p:cNvPr id="36" name="obj40"/>
          <p:cNvSpPr/>
          <p:nvPr/>
        </p:nvSpPr>
        <p:spPr>
          <a:xfrm>
            <a:off x="7827264" y="2715768"/>
            <a:ext cx="1783080" cy="822960"/>
          </a:xfrm>
          <a:prstGeom prst="diamond">
            <a:avLst/>
          </a:prstGeom>
          <a:solidFill>
            <a:schemeClr val="bg1"/>
          </a:solidFill>
          <a:ln w="34925">
            <a:solidFill>
              <a:schemeClr val="accent5"/>
            </a:solidFill>
            <a:prstDash val="solid"/>
          </a:ln>
        </p:spPr>
      </p:sp>
      <p:sp>
        <p:nvSpPr>
          <p:cNvPr id="37" name="obj41"/>
          <p:cNvSpPr txBox="1"/>
          <p:nvPr/>
        </p:nvSpPr>
        <p:spPr>
          <a:xfrm>
            <a:off x="8078724" y="2852928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8630A"/>
                </a:solidFill>
              </a:rPr>
              <a:t>STEP 07</a:t>
            </a:r>
            <a:endParaRPr lang="en-US" sz="900" dirty="0"/>
          </a:p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HO approved?</a:t>
            </a:r>
            <a:endParaRPr lang="en-US" sz="900" dirty="0"/>
          </a:p>
        </p:txBody>
      </p:sp>
      <p:sp>
        <p:nvSpPr>
          <p:cNvPr id="38" name="obj42"/>
          <p:cNvSpPr/>
          <p:nvPr/>
        </p:nvSpPr>
        <p:spPr>
          <a:xfrm>
            <a:off x="7827264" y="5413248"/>
            <a:ext cx="1783080" cy="658368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/>
        </p:spPr>
      </p:sp>
      <p:sp>
        <p:nvSpPr>
          <p:cNvPr id="39" name="obj43"/>
          <p:cNvSpPr txBox="1"/>
          <p:nvPr/>
        </p:nvSpPr>
        <p:spPr>
          <a:xfrm>
            <a:off x="7918704" y="5458968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7FDCD5"/>
                </a:solidFill>
              </a:rPr>
              <a:t>END</a:t>
            </a:r>
            <a:endParaRPr lang="en-US" sz="900" dirty="0"/>
          </a:p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Payment received, outstanding adjusted</a:t>
            </a:r>
            <a:endParaRPr lang="en-US" sz="900" dirty="0"/>
          </a:p>
        </p:txBody>
      </p:sp>
      <p:sp>
        <p:nvSpPr>
          <p:cNvPr id="40" name="obj44"/>
          <p:cNvSpPr/>
          <p:nvPr/>
        </p:nvSpPr>
        <p:spPr>
          <a:xfrm>
            <a:off x="3657600" y="1956816"/>
            <a:ext cx="201168" cy="0"/>
          </a:xfrm>
          <a:prstGeom prst="line">
            <a:avLst/>
          </a:prstGeom>
          <a:noFill/>
          <a:ln w="19050">
            <a:solidFill>
              <a:srgbClr val="3D5068"/>
            </a:solidFill>
            <a:prstDash val="solid"/>
            <a:tailEnd type="triangle"/>
          </a:ln>
        </p:spPr>
      </p:sp>
      <p:sp>
        <p:nvSpPr>
          <p:cNvPr id="41" name="obj45"/>
          <p:cNvSpPr/>
          <p:nvPr/>
        </p:nvSpPr>
        <p:spPr>
          <a:xfrm>
            <a:off x="5641848" y="1956816"/>
            <a:ext cx="201168" cy="0"/>
          </a:xfrm>
          <a:prstGeom prst="line">
            <a:avLst/>
          </a:prstGeom>
          <a:noFill/>
          <a:ln w="19050">
            <a:solidFill>
              <a:srgbClr val="3D5068"/>
            </a:solidFill>
            <a:prstDash val="solid"/>
            <a:tailEnd type="triangle"/>
          </a:ln>
        </p:spPr>
      </p:sp>
      <p:sp>
        <p:nvSpPr>
          <p:cNvPr id="42" name="obj46"/>
          <p:cNvSpPr/>
          <p:nvPr/>
        </p:nvSpPr>
        <p:spPr>
          <a:xfrm>
            <a:off x="7626096" y="1956816"/>
            <a:ext cx="201168" cy="0"/>
          </a:xfrm>
          <a:prstGeom prst="line">
            <a:avLst/>
          </a:prstGeom>
          <a:noFill/>
          <a:ln w="19050">
            <a:solidFill>
              <a:srgbClr val="3D5068"/>
            </a:solidFill>
            <a:prstDash val="solid"/>
            <a:tailEnd type="triangle"/>
          </a:ln>
        </p:spPr>
      </p:sp>
      <p:sp>
        <p:nvSpPr>
          <p:cNvPr id="43" name="obj47"/>
          <p:cNvSpPr/>
          <p:nvPr/>
        </p:nvSpPr>
        <p:spPr>
          <a:xfrm>
            <a:off x="9610344" y="1956816"/>
            <a:ext cx="201168" cy="0"/>
          </a:xfrm>
          <a:prstGeom prst="line">
            <a:avLst/>
          </a:prstGeom>
          <a:noFill/>
          <a:ln w="19050">
            <a:solidFill>
              <a:srgbClr val="3D5068"/>
            </a:solidFill>
            <a:prstDash val="solid"/>
            <a:tailEnd type="triangle"/>
          </a:ln>
        </p:spPr>
      </p:sp>
      <p:sp>
        <p:nvSpPr>
          <p:cNvPr id="44" name="obj48"/>
          <p:cNvSpPr/>
          <p:nvPr/>
        </p:nvSpPr>
        <p:spPr>
          <a:xfrm>
            <a:off x="10703052" y="2286000"/>
            <a:ext cx="0" cy="338328"/>
          </a:xfrm>
          <a:prstGeom prst="line">
            <a:avLst/>
          </a:prstGeom>
          <a:noFill/>
          <a:ln w="19050">
            <a:solidFill>
              <a:srgbClr val="3D5068"/>
            </a:solidFill>
            <a:prstDash val="solid"/>
          </a:ln>
        </p:spPr>
      </p:sp>
      <p:sp>
        <p:nvSpPr>
          <p:cNvPr id="45" name="obj49"/>
          <p:cNvSpPr/>
          <p:nvPr/>
        </p:nvSpPr>
        <p:spPr>
          <a:xfrm flipH="1">
            <a:off x="4750308" y="2624328"/>
            <a:ext cx="5952744" cy="0"/>
          </a:xfrm>
          <a:prstGeom prst="line">
            <a:avLst/>
          </a:prstGeom>
          <a:noFill/>
          <a:ln w="19050">
            <a:solidFill>
              <a:srgbClr val="3D5068"/>
            </a:solidFill>
            <a:prstDash val="solid"/>
          </a:ln>
        </p:spPr>
      </p:sp>
      <p:sp>
        <p:nvSpPr>
          <p:cNvPr id="46" name="obj50"/>
          <p:cNvSpPr/>
          <p:nvPr/>
        </p:nvSpPr>
        <p:spPr>
          <a:xfrm>
            <a:off x="4750308" y="2624328"/>
            <a:ext cx="0" cy="173736"/>
          </a:xfrm>
          <a:prstGeom prst="line">
            <a:avLst/>
          </a:prstGeom>
          <a:noFill/>
          <a:ln w="19050">
            <a:solidFill>
              <a:srgbClr val="3D5068"/>
            </a:solidFill>
            <a:prstDash val="solid"/>
            <a:tailEnd type="triangle"/>
          </a:ln>
        </p:spPr>
      </p:sp>
      <p:sp>
        <p:nvSpPr>
          <p:cNvPr id="47" name="obj51"/>
          <p:cNvSpPr/>
          <p:nvPr/>
        </p:nvSpPr>
        <p:spPr>
          <a:xfrm>
            <a:off x="5641848" y="3127248"/>
            <a:ext cx="201168" cy="0"/>
          </a:xfrm>
          <a:prstGeom prst="line">
            <a:avLst/>
          </a:prstGeom>
          <a:noFill/>
          <a:ln w="19050">
            <a:solidFill>
              <a:srgbClr val="3D5068"/>
            </a:solidFill>
            <a:prstDash val="solid"/>
            <a:tailEnd type="triangle"/>
          </a:ln>
        </p:spPr>
      </p:sp>
      <p:sp>
        <p:nvSpPr>
          <p:cNvPr id="48" name="obj52"/>
          <p:cNvSpPr/>
          <p:nvPr/>
        </p:nvSpPr>
        <p:spPr>
          <a:xfrm>
            <a:off x="7626096" y="3127248"/>
            <a:ext cx="201168" cy="0"/>
          </a:xfrm>
          <a:prstGeom prst="line">
            <a:avLst/>
          </a:prstGeom>
          <a:noFill/>
          <a:ln w="19050">
            <a:solidFill>
              <a:srgbClr val="3D5068"/>
            </a:solidFill>
            <a:prstDash val="solid"/>
            <a:tailEnd type="triangle"/>
          </a:ln>
        </p:spPr>
      </p:sp>
      <p:sp>
        <p:nvSpPr>
          <p:cNvPr id="49" name="obj53"/>
          <p:cNvSpPr/>
          <p:nvPr/>
        </p:nvSpPr>
        <p:spPr>
          <a:xfrm>
            <a:off x="9610344" y="3127248"/>
            <a:ext cx="201168" cy="0"/>
          </a:xfrm>
          <a:prstGeom prst="line">
            <a:avLst/>
          </a:prstGeom>
          <a:noFill/>
          <a:ln w="19050">
            <a:solidFill>
              <a:srgbClr val="3D5068"/>
            </a:solidFill>
            <a:prstDash val="solid"/>
            <a:tailEnd type="triangle"/>
          </a:ln>
        </p:spPr>
      </p:sp>
      <p:sp>
        <p:nvSpPr>
          <p:cNvPr id="50" name="obj54"/>
          <p:cNvSpPr txBox="1"/>
          <p:nvPr/>
        </p:nvSpPr>
        <p:spPr>
          <a:xfrm>
            <a:off x="9592056" y="2871216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3824F"/>
                </a:solidFill>
              </a:rPr>
              <a:t>Yes</a:t>
            </a:r>
            <a:endParaRPr lang="en-US" sz="1000" dirty="0"/>
          </a:p>
        </p:txBody>
      </p:sp>
      <p:sp>
        <p:nvSpPr>
          <p:cNvPr id="51" name="obj55"/>
          <p:cNvSpPr/>
          <p:nvPr/>
        </p:nvSpPr>
        <p:spPr>
          <a:xfrm>
            <a:off x="8718804" y="3538728"/>
            <a:ext cx="0" cy="256032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dash"/>
          </a:ln>
        </p:spPr>
      </p:sp>
      <p:sp>
        <p:nvSpPr>
          <p:cNvPr id="52" name="obj56"/>
          <p:cNvSpPr/>
          <p:nvPr/>
        </p:nvSpPr>
        <p:spPr>
          <a:xfrm flipH="1">
            <a:off x="6734556" y="3794760"/>
            <a:ext cx="1984248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dash"/>
          </a:ln>
        </p:spPr>
      </p:sp>
      <p:sp>
        <p:nvSpPr>
          <p:cNvPr id="53" name="obj57"/>
          <p:cNvSpPr/>
          <p:nvPr/>
        </p:nvSpPr>
        <p:spPr>
          <a:xfrm flipV="1">
            <a:off x="6734556" y="3456432"/>
            <a:ext cx="0" cy="338328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dash"/>
            <a:tailEnd type="triangle"/>
          </a:ln>
        </p:spPr>
      </p:sp>
      <p:sp>
        <p:nvSpPr>
          <p:cNvPr id="54" name="obj58"/>
          <p:cNvSpPr txBox="1"/>
          <p:nvPr/>
        </p:nvSpPr>
        <p:spPr>
          <a:xfrm>
            <a:off x="6871716" y="354787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No: revise costing and resubmit</a:t>
            </a:r>
            <a:endParaRPr lang="en-US" sz="1000" dirty="0"/>
          </a:p>
        </p:txBody>
      </p:sp>
      <p:sp>
        <p:nvSpPr>
          <p:cNvPr id="55" name="obj59"/>
          <p:cNvSpPr/>
          <p:nvPr/>
        </p:nvSpPr>
        <p:spPr>
          <a:xfrm>
            <a:off x="10703052" y="3456432"/>
            <a:ext cx="0" cy="640080"/>
          </a:xfrm>
          <a:prstGeom prst="line">
            <a:avLst/>
          </a:prstGeom>
          <a:noFill/>
          <a:ln w="19050">
            <a:solidFill>
              <a:srgbClr val="3D5068"/>
            </a:solidFill>
            <a:prstDash val="solid"/>
          </a:ln>
        </p:spPr>
      </p:sp>
      <p:sp>
        <p:nvSpPr>
          <p:cNvPr id="56" name="obj60"/>
          <p:cNvSpPr/>
          <p:nvPr/>
        </p:nvSpPr>
        <p:spPr>
          <a:xfrm flipH="1">
            <a:off x="4750308" y="4096512"/>
            <a:ext cx="5952744" cy="0"/>
          </a:xfrm>
          <a:prstGeom prst="line">
            <a:avLst/>
          </a:prstGeom>
          <a:noFill/>
          <a:ln w="19050">
            <a:solidFill>
              <a:srgbClr val="3D5068"/>
            </a:solidFill>
            <a:prstDash val="solid"/>
          </a:ln>
        </p:spPr>
      </p:sp>
      <p:sp>
        <p:nvSpPr>
          <p:cNvPr id="57" name="obj61"/>
          <p:cNvSpPr/>
          <p:nvPr/>
        </p:nvSpPr>
        <p:spPr>
          <a:xfrm>
            <a:off x="4750308" y="4096512"/>
            <a:ext cx="0" cy="128016"/>
          </a:xfrm>
          <a:prstGeom prst="line">
            <a:avLst/>
          </a:prstGeom>
          <a:noFill/>
          <a:ln w="19050">
            <a:solidFill>
              <a:srgbClr val="3D5068"/>
            </a:solidFill>
            <a:prstDash val="solid"/>
            <a:tailEnd type="triangle"/>
          </a:ln>
        </p:spPr>
      </p:sp>
      <p:sp>
        <p:nvSpPr>
          <p:cNvPr id="58" name="obj62"/>
          <p:cNvSpPr txBox="1"/>
          <p:nvPr/>
        </p:nvSpPr>
        <p:spPr>
          <a:xfrm>
            <a:off x="9441180" y="3840480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Customer accepts</a:t>
            </a:r>
            <a:endParaRPr lang="en-US" sz="1000" dirty="0"/>
          </a:p>
        </p:txBody>
      </p:sp>
      <p:sp>
        <p:nvSpPr>
          <p:cNvPr id="59" name="obj63"/>
          <p:cNvSpPr/>
          <p:nvPr/>
        </p:nvSpPr>
        <p:spPr>
          <a:xfrm>
            <a:off x="5641848" y="4553712"/>
            <a:ext cx="201168" cy="0"/>
          </a:xfrm>
          <a:prstGeom prst="line">
            <a:avLst/>
          </a:prstGeom>
          <a:noFill/>
          <a:ln w="19050">
            <a:solidFill>
              <a:srgbClr val="3D5068"/>
            </a:solidFill>
            <a:prstDash val="solid"/>
            <a:tailEnd type="triangle"/>
          </a:ln>
        </p:spPr>
      </p:sp>
      <p:sp>
        <p:nvSpPr>
          <p:cNvPr id="60" name="obj64"/>
          <p:cNvSpPr/>
          <p:nvPr/>
        </p:nvSpPr>
        <p:spPr>
          <a:xfrm>
            <a:off x="6734556" y="4882896"/>
            <a:ext cx="0" cy="402336"/>
          </a:xfrm>
          <a:prstGeom prst="line">
            <a:avLst/>
          </a:prstGeom>
          <a:noFill/>
          <a:ln w="19050">
            <a:solidFill>
              <a:srgbClr val="3D5068"/>
            </a:solidFill>
            <a:prstDash val="solid"/>
          </a:ln>
        </p:spPr>
      </p:sp>
      <p:sp>
        <p:nvSpPr>
          <p:cNvPr id="61" name="obj65"/>
          <p:cNvSpPr/>
          <p:nvPr/>
        </p:nvSpPr>
        <p:spPr>
          <a:xfrm flipH="1">
            <a:off x="4750308" y="5285232"/>
            <a:ext cx="1984248" cy="0"/>
          </a:xfrm>
          <a:prstGeom prst="line">
            <a:avLst/>
          </a:prstGeom>
          <a:noFill/>
          <a:ln w="19050">
            <a:solidFill>
              <a:srgbClr val="3D5068"/>
            </a:solidFill>
            <a:prstDash val="solid"/>
          </a:ln>
        </p:spPr>
      </p:sp>
      <p:sp>
        <p:nvSpPr>
          <p:cNvPr id="62" name="obj66"/>
          <p:cNvSpPr/>
          <p:nvPr/>
        </p:nvSpPr>
        <p:spPr>
          <a:xfrm>
            <a:off x="4750308" y="5285232"/>
            <a:ext cx="0" cy="128016"/>
          </a:xfrm>
          <a:prstGeom prst="line">
            <a:avLst/>
          </a:prstGeom>
          <a:noFill/>
          <a:ln w="19050">
            <a:solidFill>
              <a:srgbClr val="3D5068"/>
            </a:solidFill>
            <a:prstDash val="solid"/>
            <a:tailEnd type="triangle"/>
          </a:ln>
        </p:spPr>
      </p:sp>
      <p:sp>
        <p:nvSpPr>
          <p:cNvPr id="63" name="obj67"/>
          <p:cNvSpPr/>
          <p:nvPr/>
        </p:nvSpPr>
        <p:spPr>
          <a:xfrm>
            <a:off x="5641848" y="5742432"/>
            <a:ext cx="201168" cy="0"/>
          </a:xfrm>
          <a:prstGeom prst="line">
            <a:avLst/>
          </a:prstGeom>
          <a:noFill/>
          <a:ln w="19050">
            <a:solidFill>
              <a:srgbClr val="3D5068"/>
            </a:solidFill>
            <a:prstDash val="solid"/>
            <a:tailEnd type="triangle"/>
          </a:ln>
        </p:spPr>
      </p:sp>
      <p:sp>
        <p:nvSpPr>
          <p:cNvPr id="64" name="obj68"/>
          <p:cNvSpPr/>
          <p:nvPr/>
        </p:nvSpPr>
        <p:spPr>
          <a:xfrm>
            <a:off x="7626096" y="5742432"/>
            <a:ext cx="201168" cy="0"/>
          </a:xfrm>
          <a:prstGeom prst="line">
            <a:avLst/>
          </a:prstGeom>
          <a:noFill/>
          <a:ln w="19050">
            <a:solidFill>
              <a:srgbClr val="3D5068"/>
            </a:solidFill>
            <a:prstDash val="solid"/>
            <a:tailEnd type="triangle"/>
          </a:ln>
        </p:spPr>
      </p:sp>
      <p:sp>
        <p:nvSpPr>
          <p:cNvPr id="65" name="obj69"/>
          <p:cNvSpPr/>
          <p:nvPr/>
        </p:nvSpPr>
        <p:spPr>
          <a:xfrm>
            <a:off x="7827264" y="4224528"/>
            <a:ext cx="3767328" cy="658368"/>
          </a:xfrm>
          <a:prstGeom prst="roundRect">
            <a:avLst>
              <a:gd name="adj" fmla="val 8333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dash"/>
          </a:ln>
        </p:spPr>
      </p:sp>
      <p:sp>
        <p:nvSpPr>
          <p:cNvPr id="66" name="obj70"/>
          <p:cNvSpPr txBox="1"/>
          <p:nvPr/>
        </p:nvSpPr>
        <p:spPr>
          <a:xfrm>
            <a:off x="7936992" y="4270248"/>
            <a:ext cx="35478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chemeClr val="accent5"/>
                </a:solidFill>
              </a:rPr>
              <a:t>CONTROL GATES</a:t>
            </a:r>
            <a:endParaRPr lang="en-US" sz="9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Crimson outline marks a gate: HO approval (07) and ERP rate lock before any booking (09).</a:t>
            </a:r>
            <a:endParaRPr lang="en-US" sz="900" dirty="0"/>
          </a:p>
        </p:txBody>
      </p:sp>
      <p:sp>
        <p:nvSpPr>
          <p:cNvPr id="67" name="obj71"/>
          <p:cNvSpPr/>
          <p:nvPr/>
        </p:nvSpPr>
        <p:spPr>
          <a:xfrm>
            <a:off x="9811512" y="5413248"/>
            <a:ext cx="1783080" cy="658368"/>
          </a:xfrm>
          <a:prstGeom prst="roundRect">
            <a:avLst>
              <a:gd name="adj" fmla="val 8333"/>
            </a:avLst>
          </a:prstGeom>
          <a:solidFill>
            <a:schemeClr val="bg1"/>
          </a:solidFill>
          <a:ln w="12700">
            <a:solidFill>
              <a:schemeClr val="accent4"/>
            </a:solidFill>
            <a:prstDash val="dash"/>
          </a:ln>
        </p:spPr>
      </p:sp>
      <p:sp>
        <p:nvSpPr>
          <p:cNvPr id="68" name="obj72"/>
          <p:cNvSpPr txBox="1"/>
          <p:nvPr/>
        </p:nvSpPr>
        <p:spPr>
          <a:xfrm>
            <a:off x="9902952" y="5458968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23824F"/>
                </a:solidFill>
              </a:rPr>
              <a:t>CREDIT TERMS</a:t>
            </a:r>
            <a:endParaRPr lang="en-US" sz="9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Billed monthly; due in 15 / 30 / 90 days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32004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6"/>
                </a:solidFill>
              </a:rPr>
              <a:t>PHASE 1 · SALES &amp; DISCOVERY · STEPS 01–04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621792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Understand the customer before talking price</a:t>
            </a:r>
            <a:endParaRPr lang="en-US" sz="3200" dirty="0"/>
          </a:p>
        </p:txBody>
      </p:sp>
      <p:sp>
        <p:nvSpPr>
          <p:cNvPr id="4" name="obj73"/>
          <p:cNvSpPr/>
          <p:nvPr/>
        </p:nvSpPr>
        <p:spPr>
          <a:xfrm>
            <a:off x="457200" y="1600200"/>
            <a:ext cx="2558034" cy="4526280"/>
          </a:xfrm>
          <a:prstGeom prst="roundRect">
            <a:avLst>
              <a:gd name="adj" fmla="val 3575"/>
            </a:avLst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  <a:effectLst>
            <a:outerShdw sx="100000" sy="100000" kx="0" ky="0" algn="bl" rotWithShape="0" blurRad="76200" dist="25400" dir="5400000">
              <a:srgbClr val="14243A">
                <a:alpha val="8000"/>
              </a:srgbClr>
            </a:outerShdw>
          </a:effectLst>
        </p:spPr>
      </p:sp>
      <p:sp>
        <p:nvSpPr>
          <p:cNvPr id="5" name="obj74"/>
          <p:cNvSpPr txBox="1"/>
          <p:nvPr/>
        </p:nvSpPr>
        <p:spPr>
          <a:xfrm>
            <a:off x="640080" y="1783080"/>
            <a:ext cx="219227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C7F7A"/>
                </a:solidFill>
              </a:rPr>
              <a:t>STEP 01</a:t>
            </a:r>
            <a:endParaRPr lang="en-US" sz="1100" dirty="0"/>
          </a:p>
        </p:txBody>
      </p:sp>
      <p:sp>
        <p:nvSpPr>
          <p:cNvPr id="6" name="obj75"/>
          <p:cNvSpPr txBox="1"/>
          <p:nvPr/>
        </p:nvSpPr>
        <p:spPr>
          <a:xfrm>
            <a:off x="640080" y="2039112"/>
            <a:ext cx="219227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Visit</a:t>
            </a:r>
            <a:endParaRPr lang="en-US" sz="1600" dirty="0"/>
          </a:p>
        </p:txBody>
      </p:sp>
      <p:sp>
        <p:nvSpPr>
          <p:cNvPr id="7" name="obj76"/>
          <p:cNvSpPr txBox="1"/>
          <p:nvPr/>
        </p:nvSpPr>
        <p:spPr>
          <a:xfrm>
            <a:off x="640080" y="2606040"/>
            <a:ext cx="219227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6"/>
                </a:solidFill>
              </a:rPr>
              <a:t>Sales Executive</a:t>
            </a:r>
            <a:endParaRPr lang="en-US" sz="1200" dirty="0"/>
          </a:p>
        </p:txBody>
      </p:sp>
      <p:sp>
        <p:nvSpPr>
          <p:cNvPr id="8" name="obj77"/>
          <p:cNvSpPr txBox="1"/>
          <p:nvPr/>
        </p:nvSpPr>
        <p:spPr>
          <a:xfrm>
            <a:off x="640080" y="2898648"/>
            <a:ext cx="219227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Meet the customer, understand logistics needs, business model, decision-makers and service expectations.</a:t>
            </a:r>
            <a:endParaRPr lang="en-US" sz="1200" dirty="0"/>
          </a:p>
        </p:txBody>
      </p:sp>
      <p:sp>
        <p:nvSpPr>
          <p:cNvPr id="9" name="obj78"/>
          <p:cNvSpPr txBox="1"/>
          <p:nvPr/>
        </p:nvSpPr>
        <p:spPr>
          <a:xfrm>
            <a:off x="640080" y="3886200"/>
            <a:ext cx="219227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Record profile and contacts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Understand current transport set-up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Identify pain points</a:t>
            </a:r>
            <a:endParaRPr lang="en-US" sz="1200" dirty="0"/>
          </a:p>
        </p:txBody>
      </p:sp>
      <p:sp>
        <p:nvSpPr>
          <p:cNvPr id="10" name="obj79"/>
          <p:cNvSpPr/>
          <p:nvPr/>
        </p:nvSpPr>
        <p:spPr>
          <a:xfrm>
            <a:off x="594360" y="5440680"/>
            <a:ext cx="2283714" cy="548640"/>
          </a:xfrm>
          <a:prstGeom prst="roundRect">
            <a:avLst>
              <a:gd name="adj" fmla="val 10000"/>
            </a:avLst>
          </a:prstGeom>
          <a:solidFill>
            <a:schemeClr val="accent1">
              <a:alpha val="15000"/>
            </a:schemeClr>
          </a:solidFill>
          <a:ln/>
        </p:spPr>
      </p:sp>
      <p:sp>
        <p:nvSpPr>
          <p:cNvPr id="11" name="obj80"/>
          <p:cNvSpPr txBox="1"/>
          <p:nvPr/>
        </p:nvSpPr>
        <p:spPr>
          <a:xfrm>
            <a:off x="713232" y="5468112"/>
            <a:ext cx="204597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C7F7A"/>
                </a:solidFill>
              </a:rPr>
              <a:t>OUTPUT</a:t>
            </a:r>
            <a:endParaRPr lang="en-US" sz="900" dirty="0"/>
          </a:p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Customer requirement brief</a:t>
            </a:r>
            <a:endParaRPr lang="en-US" sz="900" dirty="0"/>
          </a:p>
        </p:txBody>
      </p:sp>
      <p:sp>
        <p:nvSpPr>
          <p:cNvPr id="12" name="obj81"/>
          <p:cNvSpPr/>
          <p:nvPr/>
        </p:nvSpPr>
        <p:spPr>
          <a:xfrm>
            <a:off x="3106674" y="3726180"/>
            <a:ext cx="164592" cy="274320"/>
          </a:xfrm>
          <a:prstGeom prst="chevron">
            <a:avLst/>
          </a:prstGeom>
          <a:solidFill>
            <a:schemeClr val="accent6"/>
          </a:solidFill>
          <a:ln/>
        </p:spPr>
      </p:sp>
      <p:sp>
        <p:nvSpPr>
          <p:cNvPr id="13" name="obj82"/>
          <p:cNvSpPr/>
          <p:nvPr/>
        </p:nvSpPr>
        <p:spPr>
          <a:xfrm>
            <a:off x="3362706" y="1600200"/>
            <a:ext cx="2558034" cy="4526280"/>
          </a:xfrm>
          <a:prstGeom prst="roundRect">
            <a:avLst>
              <a:gd name="adj" fmla="val 3575"/>
            </a:avLst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  <a:effectLst>
            <a:outerShdw sx="100000" sy="100000" kx="0" ky="0" algn="bl" rotWithShape="0" blurRad="76200" dist="25400" dir="5400000">
              <a:srgbClr val="14243A">
                <a:alpha val="8000"/>
              </a:srgbClr>
            </a:outerShdw>
          </a:effectLst>
        </p:spPr>
      </p:sp>
      <p:sp>
        <p:nvSpPr>
          <p:cNvPr id="14" name="obj83"/>
          <p:cNvSpPr txBox="1"/>
          <p:nvPr/>
        </p:nvSpPr>
        <p:spPr>
          <a:xfrm>
            <a:off x="3545586" y="1783080"/>
            <a:ext cx="219227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C7F7A"/>
                </a:solidFill>
              </a:rPr>
              <a:t>STEP 02</a:t>
            </a:r>
            <a:endParaRPr lang="en-US" sz="1100" dirty="0"/>
          </a:p>
        </p:txBody>
      </p:sp>
      <p:sp>
        <p:nvSpPr>
          <p:cNvPr id="15" name="obj84"/>
          <p:cNvSpPr txBox="1"/>
          <p:nvPr/>
        </p:nvSpPr>
        <p:spPr>
          <a:xfrm>
            <a:off x="3545586" y="2039112"/>
            <a:ext cx="219227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Business Potential</a:t>
            </a:r>
            <a:endParaRPr lang="en-US" sz="1600" dirty="0"/>
          </a:p>
        </p:txBody>
      </p:sp>
      <p:sp>
        <p:nvSpPr>
          <p:cNvPr id="16" name="obj85"/>
          <p:cNvSpPr txBox="1"/>
          <p:nvPr/>
        </p:nvSpPr>
        <p:spPr>
          <a:xfrm>
            <a:off x="3545586" y="2606040"/>
            <a:ext cx="219227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6"/>
                </a:solidFill>
              </a:rPr>
              <a:t>Sales Executive</a:t>
            </a:r>
            <a:endParaRPr lang="en-US" sz="1200" dirty="0"/>
          </a:p>
        </p:txBody>
      </p:sp>
      <p:sp>
        <p:nvSpPr>
          <p:cNvPr id="17" name="obj86"/>
          <p:cNvSpPr txBox="1"/>
          <p:nvPr/>
        </p:nvSpPr>
        <p:spPr>
          <a:xfrm>
            <a:off x="3545586" y="2898648"/>
            <a:ext cx="219227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Estimate current and potential monthly shipment business to judge commercial viability.</a:t>
            </a:r>
            <a:endParaRPr lang="en-US" sz="1200" dirty="0"/>
          </a:p>
        </p:txBody>
      </p:sp>
      <p:sp>
        <p:nvSpPr>
          <p:cNvPr id="18" name="obj87"/>
          <p:cNvSpPr txBox="1"/>
          <p:nvPr/>
        </p:nvSpPr>
        <p:spPr>
          <a:xfrm>
            <a:off x="3545586" y="3886200"/>
            <a:ext cx="219227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Monthly value and volume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Frequency, seasonality, lanes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Realistic growth potential</a:t>
            </a:r>
            <a:endParaRPr lang="en-US" sz="1200" dirty="0"/>
          </a:p>
        </p:txBody>
      </p:sp>
      <p:sp>
        <p:nvSpPr>
          <p:cNvPr id="19" name="obj88"/>
          <p:cNvSpPr/>
          <p:nvPr/>
        </p:nvSpPr>
        <p:spPr>
          <a:xfrm>
            <a:off x="3499866" y="5440680"/>
            <a:ext cx="2283714" cy="548640"/>
          </a:xfrm>
          <a:prstGeom prst="roundRect">
            <a:avLst>
              <a:gd name="adj" fmla="val 10000"/>
            </a:avLst>
          </a:prstGeom>
          <a:solidFill>
            <a:schemeClr val="accent1">
              <a:alpha val="15000"/>
            </a:schemeClr>
          </a:solidFill>
          <a:ln/>
        </p:spPr>
      </p:sp>
      <p:sp>
        <p:nvSpPr>
          <p:cNvPr id="20" name="obj89"/>
          <p:cNvSpPr txBox="1"/>
          <p:nvPr/>
        </p:nvSpPr>
        <p:spPr>
          <a:xfrm>
            <a:off x="3618738" y="5468112"/>
            <a:ext cx="204597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C7F7A"/>
                </a:solidFill>
              </a:rPr>
              <a:t>OUTPUT</a:t>
            </a:r>
            <a:endParaRPr lang="en-US" sz="900" dirty="0"/>
          </a:p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Monthly business estimate</a:t>
            </a:r>
            <a:endParaRPr lang="en-US" sz="900" dirty="0"/>
          </a:p>
        </p:txBody>
      </p:sp>
      <p:sp>
        <p:nvSpPr>
          <p:cNvPr id="21" name="obj90"/>
          <p:cNvSpPr/>
          <p:nvPr/>
        </p:nvSpPr>
        <p:spPr>
          <a:xfrm>
            <a:off x="6012180" y="3726180"/>
            <a:ext cx="164592" cy="274320"/>
          </a:xfrm>
          <a:prstGeom prst="chevron">
            <a:avLst/>
          </a:prstGeom>
          <a:solidFill>
            <a:schemeClr val="accent6"/>
          </a:solidFill>
          <a:ln/>
        </p:spPr>
      </p:sp>
      <p:sp>
        <p:nvSpPr>
          <p:cNvPr id="22" name="obj91"/>
          <p:cNvSpPr/>
          <p:nvPr/>
        </p:nvSpPr>
        <p:spPr>
          <a:xfrm>
            <a:off x="6268212" y="1600200"/>
            <a:ext cx="2558034" cy="4526280"/>
          </a:xfrm>
          <a:prstGeom prst="roundRect">
            <a:avLst>
              <a:gd name="adj" fmla="val 3575"/>
            </a:avLst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  <a:effectLst>
            <a:outerShdw sx="100000" sy="100000" kx="0" ky="0" algn="bl" rotWithShape="0" blurRad="76200" dist="25400" dir="5400000">
              <a:srgbClr val="14243A">
                <a:alpha val="8000"/>
              </a:srgbClr>
            </a:outerShdw>
          </a:effectLst>
        </p:spPr>
      </p:sp>
      <p:sp>
        <p:nvSpPr>
          <p:cNvPr id="23" name="obj92"/>
          <p:cNvSpPr txBox="1"/>
          <p:nvPr/>
        </p:nvSpPr>
        <p:spPr>
          <a:xfrm>
            <a:off x="6451092" y="1783080"/>
            <a:ext cx="219227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C7F7A"/>
                </a:solidFill>
              </a:rPr>
              <a:t>STEP 03</a:t>
            </a:r>
            <a:endParaRPr lang="en-US" sz="1100" dirty="0"/>
          </a:p>
        </p:txBody>
      </p:sp>
      <p:sp>
        <p:nvSpPr>
          <p:cNvPr id="24" name="obj93"/>
          <p:cNvSpPr txBox="1"/>
          <p:nvPr/>
        </p:nvSpPr>
        <p:spPr>
          <a:xfrm>
            <a:off x="6451092" y="2039112"/>
            <a:ext cx="219227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 Understanding</a:t>
            </a:r>
            <a:endParaRPr lang="en-US" sz="1600" dirty="0"/>
          </a:p>
        </p:txBody>
      </p:sp>
      <p:sp>
        <p:nvSpPr>
          <p:cNvPr id="25" name="obj94"/>
          <p:cNvSpPr txBox="1"/>
          <p:nvPr/>
        </p:nvSpPr>
        <p:spPr>
          <a:xfrm>
            <a:off x="6451092" y="2606040"/>
            <a:ext cx="219227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6"/>
                </a:solidFill>
              </a:rPr>
              <a:t>Sales + Operations</a:t>
            </a:r>
            <a:endParaRPr lang="en-US" sz="1200" dirty="0"/>
          </a:p>
        </p:txBody>
      </p:sp>
      <p:sp>
        <p:nvSpPr>
          <p:cNvPr id="26" name="obj95"/>
          <p:cNvSpPr txBox="1"/>
          <p:nvPr/>
        </p:nvSpPr>
        <p:spPr>
          <a:xfrm>
            <a:off x="6451092" y="2898648"/>
            <a:ext cx="219227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Study material type and shipment characteristics to plan safe, suitable, profitable transport.</a:t>
            </a:r>
            <a:endParaRPr lang="en-US" sz="1200" dirty="0"/>
          </a:p>
        </p:txBody>
      </p:sp>
      <p:sp>
        <p:nvSpPr>
          <p:cNvPr id="27" name="obj96"/>
          <p:cNvSpPr txBox="1"/>
          <p:nvPr/>
        </p:nvSpPr>
        <p:spPr>
          <a:xfrm>
            <a:off x="6451092" y="3886200"/>
            <a:ext cx="219227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Commodity, weight, dimensions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Packing and handling needs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Special risks or restrictions</a:t>
            </a:r>
            <a:endParaRPr lang="en-US" sz="1200" dirty="0"/>
          </a:p>
        </p:txBody>
      </p:sp>
      <p:sp>
        <p:nvSpPr>
          <p:cNvPr id="28" name="obj97"/>
          <p:cNvSpPr/>
          <p:nvPr/>
        </p:nvSpPr>
        <p:spPr>
          <a:xfrm>
            <a:off x="6405372" y="5440680"/>
            <a:ext cx="2283714" cy="548640"/>
          </a:xfrm>
          <a:prstGeom prst="roundRect">
            <a:avLst>
              <a:gd name="adj" fmla="val 10000"/>
            </a:avLst>
          </a:prstGeom>
          <a:solidFill>
            <a:schemeClr val="accent1">
              <a:alpha val="15000"/>
            </a:schemeClr>
          </a:solidFill>
          <a:ln/>
        </p:spPr>
      </p:sp>
      <p:sp>
        <p:nvSpPr>
          <p:cNvPr id="29" name="obj98"/>
          <p:cNvSpPr txBox="1"/>
          <p:nvPr/>
        </p:nvSpPr>
        <p:spPr>
          <a:xfrm>
            <a:off x="6524244" y="5468112"/>
            <a:ext cx="204597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C7F7A"/>
                </a:solidFill>
              </a:rPr>
              <a:t>OUTPUT</a:t>
            </a:r>
            <a:endParaRPr lang="en-US" sz="900" dirty="0"/>
          </a:p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Material profile</a:t>
            </a:r>
            <a:endParaRPr lang="en-US" sz="900" dirty="0"/>
          </a:p>
        </p:txBody>
      </p:sp>
      <p:sp>
        <p:nvSpPr>
          <p:cNvPr id="30" name="obj99"/>
          <p:cNvSpPr/>
          <p:nvPr/>
        </p:nvSpPr>
        <p:spPr>
          <a:xfrm>
            <a:off x="8917686" y="3726180"/>
            <a:ext cx="164592" cy="274320"/>
          </a:xfrm>
          <a:prstGeom prst="chevron">
            <a:avLst/>
          </a:prstGeom>
          <a:solidFill>
            <a:schemeClr val="accent6"/>
          </a:solidFill>
          <a:ln/>
        </p:spPr>
      </p:sp>
      <p:sp>
        <p:nvSpPr>
          <p:cNvPr id="31" name="obj100"/>
          <p:cNvSpPr/>
          <p:nvPr/>
        </p:nvSpPr>
        <p:spPr>
          <a:xfrm>
            <a:off x="9173718" y="1600200"/>
            <a:ext cx="2558034" cy="4526280"/>
          </a:xfrm>
          <a:prstGeom prst="roundRect">
            <a:avLst>
              <a:gd name="adj" fmla="val 3575"/>
            </a:avLst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  <a:effectLst>
            <a:outerShdw sx="100000" sy="100000" kx="0" ky="0" algn="bl" rotWithShape="0" blurRad="76200" dist="25400" dir="5400000">
              <a:srgbClr val="14243A">
                <a:alpha val="8000"/>
              </a:srgbClr>
            </a:outerShdw>
          </a:effectLst>
        </p:spPr>
      </p:sp>
      <p:sp>
        <p:nvSpPr>
          <p:cNvPr id="32" name="obj101"/>
          <p:cNvSpPr txBox="1"/>
          <p:nvPr/>
        </p:nvSpPr>
        <p:spPr>
          <a:xfrm>
            <a:off x="9356598" y="1783080"/>
            <a:ext cx="219227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C7F7A"/>
                </a:solidFill>
              </a:rPr>
              <a:t>STEP 04</a:t>
            </a:r>
            <a:endParaRPr lang="en-US" sz="1100" dirty="0"/>
          </a:p>
        </p:txBody>
      </p:sp>
      <p:sp>
        <p:nvSpPr>
          <p:cNvPr id="33" name="obj102"/>
          <p:cNvSpPr txBox="1"/>
          <p:nvPr/>
        </p:nvSpPr>
        <p:spPr>
          <a:xfrm>
            <a:off x="9356598" y="2039112"/>
            <a:ext cx="219227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Origin &amp; Destination Mapping</a:t>
            </a:r>
            <a:endParaRPr lang="en-US" sz="1600" dirty="0"/>
          </a:p>
        </p:txBody>
      </p:sp>
      <p:sp>
        <p:nvSpPr>
          <p:cNvPr id="34" name="obj103"/>
          <p:cNvSpPr txBox="1"/>
          <p:nvPr/>
        </p:nvSpPr>
        <p:spPr>
          <a:xfrm>
            <a:off x="9356598" y="2606040"/>
            <a:ext cx="219227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6"/>
                </a:solidFill>
              </a:rPr>
              <a:t>Sales + Branch</a:t>
            </a:r>
            <a:endParaRPr lang="en-US" sz="1200" dirty="0"/>
          </a:p>
        </p:txBody>
      </p:sp>
      <p:sp>
        <p:nvSpPr>
          <p:cNvPr id="35" name="obj104"/>
          <p:cNvSpPr txBox="1"/>
          <p:nvPr/>
        </p:nvSpPr>
        <p:spPr>
          <a:xfrm>
            <a:off x="9356598" y="2898648"/>
            <a:ext cx="219227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Confirm where goods are booked and delivered, including the Sugam origin branches.</a:t>
            </a:r>
            <a:endParaRPr lang="en-US" sz="1200" dirty="0"/>
          </a:p>
        </p:txBody>
      </p:sp>
      <p:sp>
        <p:nvSpPr>
          <p:cNvPr id="36" name="obj105"/>
          <p:cNvSpPr txBox="1"/>
          <p:nvPr/>
        </p:nvSpPr>
        <p:spPr>
          <a:xfrm>
            <a:off x="9356598" y="3886200"/>
            <a:ext cx="219227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Origin booking locations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Destinations and frequency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Branch coverage and feasibility</a:t>
            </a:r>
            <a:endParaRPr lang="en-US" sz="1200" dirty="0"/>
          </a:p>
        </p:txBody>
      </p:sp>
      <p:sp>
        <p:nvSpPr>
          <p:cNvPr id="37" name="obj106"/>
          <p:cNvSpPr/>
          <p:nvPr/>
        </p:nvSpPr>
        <p:spPr>
          <a:xfrm>
            <a:off x="9310878" y="5440680"/>
            <a:ext cx="2283714" cy="548640"/>
          </a:xfrm>
          <a:prstGeom prst="roundRect">
            <a:avLst>
              <a:gd name="adj" fmla="val 10000"/>
            </a:avLst>
          </a:prstGeom>
          <a:solidFill>
            <a:schemeClr val="accent1">
              <a:alpha val="15000"/>
            </a:schemeClr>
          </a:solidFill>
          <a:ln/>
        </p:spPr>
      </p:sp>
      <p:sp>
        <p:nvSpPr>
          <p:cNvPr id="38" name="obj107"/>
          <p:cNvSpPr txBox="1"/>
          <p:nvPr/>
        </p:nvSpPr>
        <p:spPr>
          <a:xfrm>
            <a:off x="9429750" y="5468112"/>
            <a:ext cx="204597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C7F7A"/>
                </a:solidFill>
              </a:rPr>
              <a:t>OUTPUT</a:t>
            </a:r>
            <a:endParaRPr lang="en-US" sz="900" dirty="0"/>
          </a:p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Lane and branch mapping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32004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6"/>
                </a:solidFill>
              </a:rPr>
              <a:t>PHASE 2 · COMMERCIAL &amp; APPROVAL · STEPS 05–08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621792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No final quotation without HO approval</a:t>
            </a:r>
            <a:endParaRPr lang="en-US" sz="3200" dirty="0"/>
          </a:p>
        </p:txBody>
      </p:sp>
      <p:sp>
        <p:nvSpPr>
          <p:cNvPr id="4" name="obj108"/>
          <p:cNvSpPr/>
          <p:nvPr/>
        </p:nvSpPr>
        <p:spPr>
          <a:xfrm>
            <a:off x="457200" y="1600200"/>
            <a:ext cx="2558034" cy="4526280"/>
          </a:xfrm>
          <a:prstGeom prst="roundRect">
            <a:avLst>
              <a:gd name="adj" fmla="val 3575"/>
            </a:avLst>
          </a:prstGeom>
          <a:solidFill>
            <a:schemeClr val="bg1"/>
          </a:solidFill>
          <a:ln w="15875">
            <a:solidFill>
              <a:schemeClr val="accent2"/>
            </a:solidFill>
            <a:prstDash val="solid"/>
          </a:ln>
          <a:effectLst>
            <a:outerShdw sx="100000" sy="100000" kx="0" ky="0" algn="bl" rotWithShape="0" blurRad="76200" dist="25400" dir="5400000">
              <a:srgbClr val="14243A">
                <a:alpha val="8000"/>
              </a:srgbClr>
            </a:outerShdw>
          </a:effectLst>
        </p:spPr>
      </p:sp>
      <p:sp>
        <p:nvSpPr>
          <p:cNvPr id="5" name="obj109"/>
          <p:cNvSpPr txBox="1"/>
          <p:nvPr/>
        </p:nvSpPr>
        <p:spPr>
          <a:xfrm>
            <a:off x="640080" y="1783080"/>
            <a:ext cx="219227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630A"/>
                </a:solidFill>
              </a:rPr>
              <a:t>STEP 05</a:t>
            </a:r>
            <a:endParaRPr lang="en-US" sz="1100" dirty="0"/>
          </a:p>
        </p:txBody>
      </p:sp>
      <p:sp>
        <p:nvSpPr>
          <p:cNvPr id="6" name="obj110"/>
          <p:cNvSpPr txBox="1"/>
          <p:nvPr/>
        </p:nvSpPr>
        <p:spPr>
          <a:xfrm>
            <a:off x="640080" y="2039112"/>
            <a:ext cx="219227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Indicative Rate Discussion</a:t>
            </a:r>
            <a:endParaRPr lang="en-US" sz="1600" dirty="0"/>
          </a:p>
        </p:txBody>
      </p:sp>
      <p:sp>
        <p:nvSpPr>
          <p:cNvPr id="7" name="obj111"/>
          <p:cNvSpPr txBox="1"/>
          <p:nvPr/>
        </p:nvSpPr>
        <p:spPr>
          <a:xfrm>
            <a:off x="640080" y="2606040"/>
            <a:ext cx="219227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6"/>
                </a:solidFill>
              </a:rPr>
              <a:t>Sales Executive</a:t>
            </a:r>
            <a:endParaRPr lang="en-US" sz="1200" dirty="0"/>
          </a:p>
        </p:txBody>
      </p:sp>
      <p:sp>
        <p:nvSpPr>
          <p:cNvPr id="8" name="obj112"/>
          <p:cNvSpPr txBox="1"/>
          <p:nvPr/>
        </p:nvSpPr>
        <p:spPr>
          <a:xfrm>
            <a:off x="640080" y="2898648"/>
            <a:ext cx="219227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Discuss an indicative rate with the customer. This is not the final approved quotation.</a:t>
            </a:r>
            <a:endParaRPr lang="en-US" sz="1200" dirty="0"/>
          </a:p>
        </p:txBody>
      </p:sp>
      <p:sp>
        <p:nvSpPr>
          <p:cNvPr id="9" name="obj113"/>
          <p:cNvSpPr txBox="1"/>
          <p:nvPr/>
        </p:nvSpPr>
        <p:spPr>
          <a:xfrm>
            <a:off x="640080" y="3886200"/>
            <a:ext cx="219227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Indicative pricing expectations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Volumes and lane needs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Prepare proposal for HO</a:t>
            </a:r>
            <a:endParaRPr lang="en-US" sz="1200" dirty="0"/>
          </a:p>
        </p:txBody>
      </p:sp>
      <p:sp>
        <p:nvSpPr>
          <p:cNvPr id="10" name="obj114"/>
          <p:cNvSpPr/>
          <p:nvPr/>
        </p:nvSpPr>
        <p:spPr>
          <a:xfrm>
            <a:off x="594360" y="5440680"/>
            <a:ext cx="2283714" cy="548640"/>
          </a:xfrm>
          <a:prstGeom prst="roundRect">
            <a:avLst>
              <a:gd name="adj" fmla="val 10000"/>
            </a:avLst>
          </a:prstGeom>
          <a:solidFill>
            <a:schemeClr val="accent2">
              <a:alpha val="15000"/>
            </a:schemeClr>
          </a:solidFill>
          <a:ln/>
        </p:spPr>
      </p:sp>
      <p:sp>
        <p:nvSpPr>
          <p:cNvPr id="11" name="obj115"/>
          <p:cNvSpPr txBox="1"/>
          <p:nvPr/>
        </p:nvSpPr>
        <p:spPr>
          <a:xfrm>
            <a:off x="713232" y="5468112"/>
            <a:ext cx="204597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A8630A"/>
                </a:solidFill>
              </a:rPr>
              <a:t>OUTPUT</a:t>
            </a:r>
            <a:endParaRPr lang="en-US" sz="900" dirty="0"/>
          </a:p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Indicative commercial proposal</a:t>
            </a:r>
            <a:endParaRPr lang="en-US" sz="900" dirty="0"/>
          </a:p>
        </p:txBody>
      </p:sp>
      <p:sp>
        <p:nvSpPr>
          <p:cNvPr id="12" name="obj116"/>
          <p:cNvSpPr/>
          <p:nvPr/>
        </p:nvSpPr>
        <p:spPr>
          <a:xfrm>
            <a:off x="3106674" y="3726180"/>
            <a:ext cx="164592" cy="274320"/>
          </a:xfrm>
          <a:prstGeom prst="chevron">
            <a:avLst/>
          </a:prstGeom>
          <a:solidFill>
            <a:schemeClr val="accent6"/>
          </a:solidFill>
          <a:ln/>
        </p:spPr>
      </p:sp>
      <p:sp>
        <p:nvSpPr>
          <p:cNvPr id="13" name="obj117"/>
          <p:cNvSpPr/>
          <p:nvPr/>
        </p:nvSpPr>
        <p:spPr>
          <a:xfrm>
            <a:off x="3362706" y="1600200"/>
            <a:ext cx="2558034" cy="4526280"/>
          </a:xfrm>
          <a:prstGeom prst="roundRect">
            <a:avLst>
              <a:gd name="adj" fmla="val 3575"/>
            </a:avLst>
          </a:prstGeom>
          <a:solidFill>
            <a:schemeClr val="bg1"/>
          </a:solidFill>
          <a:ln w="15875">
            <a:solidFill>
              <a:schemeClr val="accent2"/>
            </a:solidFill>
            <a:prstDash val="solid"/>
          </a:ln>
          <a:effectLst>
            <a:outerShdw sx="100000" sy="100000" kx="0" ky="0" algn="bl" rotWithShape="0" blurRad="76200" dist="25400" dir="5400000">
              <a:srgbClr val="14243A">
                <a:alpha val="8000"/>
              </a:srgbClr>
            </a:outerShdw>
          </a:effectLst>
        </p:spPr>
      </p:sp>
      <p:sp>
        <p:nvSpPr>
          <p:cNvPr id="14" name="obj118"/>
          <p:cNvSpPr txBox="1"/>
          <p:nvPr/>
        </p:nvSpPr>
        <p:spPr>
          <a:xfrm>
            <a:off x="3545586" y="1783080"/>
            <a:ext cx="219227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630A"/>
                </a:solidFill>
              </a:rPr>
              <a:t>STEP 06</a:t>
            </a:r>
            <a:endParaRPr lang="en-US" sz="1100" dirty="0"/>
          </a:p>
        </p:txBody>
      </p:sp>
      <p:sp>
        <p:nvSpPr>
          <p:cNvPr id="15" name="obj119"/>
          <p:cNvSpPr txBox="1"/>
          <p:nvPr/>
        </p:nvSpPr>
        <p:spPr>
          <a:xfrm>
            <a:off x="3545586" y="2039112"/>
            <a:ext cx="219227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 Costing &amp; P&amp;L Review</a:t>
            </a:r>
            <a:endParaRPr lang="en-US" sz="1600" dirty="0"/>
          </a:p>
        </p:txBody>
      </p:sp>
      <p:sp>
        <p:nvSpPr>
          <p:cNvPr id="16" name="obj120"/>
          <p:cNvSpPr txBox="1"/>
          <p:nvPr/>
        </p:nvSpPr>
        <p:spPr>
          <a:xfrm>
            <a:off x="3545586" y="2606040"/>
            <a:ext cx="219227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6"/>
                </a:solidFill>
              </a:rPr>
              <a:t>Head Office / Commercial</a:t>
            </a:r>
            <a:endParaRPr lang="en-US" sz="1200" dirty="0"/>
          </a:p>
        </p:txBody>
      </p:sp>
      <p:sp>
        <p:nvSpPr>
          <p:cNvPr id="17" name="obj121"/>
          <p:cNvSpPr txBox="1"/>
          <p:nvPr/>
        </p:nvSpPr>
        <p:spPr>
          <a:xfrm>
            <a:off x="3545586" y="2898648"/>
            <a:ext cx="219227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HO validates the proposal on overall profitability and all applicable cost components.</a:t>
            </a:r>
            <a:endParaRPr lang="en-US" sz="1200" dirty="0"/>
          </a:p>
        </p:txBody>
      </p:sp>
      <p:sp>
        <p:nvSpPr>
          <p:cNvPr id="18" name="obj122"/>
          <p:cNvSpPr txBox="1"/>
          <p:nvPr/>
        </p:nvSpPr>
        <p:spPr>
          <a:xfrm>
            <a:off x="3545586" y="3886200"/>
            <a:ext cx="219227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Freight and fuel costs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Handling, FOV, FOD, docket charges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Overall P&amp;L and justification</a:t>
            </a:r>
            <a:endParaRPr lang="en-US" sz="1200" dirty="0"/>
          </a:p>
        </p:txBody>
      </p:sp>
      <p:sp>
        <p:nvSpPr>
          <p:cNvPr id="19" name="obj123"/>
          <p:cNvSpPr/>
          <p:nvPr/>
        </p:nvSpPr>
        <p:spPr>
          <a:xfrm>
            <a:off x="3499866" y="5440680"/>
            <a:ext cx="2283714" cy="548640"/>
          </a:xfrm>
          <a:prstGeom prst="roundRect">
            <a:avLst>
              <a:gd name="adj" fmla="val 10000"/>
            </a:avLst>
          </a:prstGeom>
          <a:solidFill>
            <a:schemeClr val="accent2">
              <a:alpha val="15000"/>
            </a:schemeClr>
          </a:solidFill>
          <a:ln/>
        </p:spPr>
      </p:sp>
      <p:sp>
        <p:nvSpPr>
          <p:cNvPr id="20" name="obj124"/>
          <p:cNvSpPr txBox="1"/>
          <p:nvPr/>
        </p:nvSpPr>
        <p:spPr>
          <a:xfrm>
            <a:off x="3618738" y="5468112"/>
            <a:ext cx="204597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A8630A"/>
                </a:solidFill>
              </a:rPr>
              <a:t>OUTPUT</a:t>
            </a:r>
            <a:endParaRPr lang="en-US" sz="900" dirty="0"/>
          </a:p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P&amp;L and costing assessment</a:t>
            </a:r>
            <a:endParaRPr lang="en-US" sz="900" dirty="0"/>
          </a:p>
        </p:txBody>
      </p:sp>
      <p:sp>
        <p:nvSpPr>
          <p:cNvPr id="21" name="obj125"/>
          <p:cNvSpPr/>
          <p:nvPr/>
        </p:nvSpPr>
        <p:spPr>
          <a:xfrm>
            <a:off x="6012180" y="3726180"/>
            <a:ext cx="164592" cy="274320"/>
          </a:xfrm>
          <a:prstGeom prst="chevron">
            <a:avLst/>
          </a:prstGeom>
          <a:solidFill>
            <a:schemeClr val="accent6"/>
          </a:solidFill>
          <a:ln/>
        </p:spPr>
      </p:sp>
      <p:sp>
        <p:nvSpPr>
          <p:cNvPr id="22" name="obj126"/>
          <p:cNvSpPr/>
          <p:nvPr/>
        </p:nvSpPr>
        <p:spPr>
          <a:xfrm>
            <a:off x="6268212" y="1600200"/>
            <a:ext cx="2558034" cy="4526280"/>
          </a:xfrm>
          <a:prstGeom prst="roundRect">
            <a:avLst>
              <a:gd name="adj" fmla="val 3575"/>
            </a:avLst>
          </a:prstGeom>
          <a:solidFill>
            <a:schemeClr val="bg1"/>
          </a:solidFill>
          <a:ln w="31750">
            <a:solidFill>
              <a:schemeClr val="accent5"/>
            </a:solidFill>
            <a:prstDash val="solid"/>
          </a:ln>
          <a:effectLst>
            <a:outerShdw sx="100000" sy="100000" kx="0" ky="0" algn="bl" rotWithShape="0" blurRad="76200" dist="25400" dir="5400000">
              <a:srgbClr val="14243A">
                <a:alpha val="8000"/>
              </a:srgbClr>
            </a:outerShdw>
          </a:effectLst>
        </p:spPr>
      </p:sp>
      <p:sp>
        <p:nvSpPr>
          <p:cNvPr id="23" name="obj127"/>
          <p:cNvSpPr txBox="1"/>
          <p:nvPr/>
        </p:nvSpPr>
        <p:spPr>
          <a:xfrm>
            <a:off x="6451092" y="1783080"/>
            <a:ext cx="219227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5"/>
                </a:solidFill>
              </a:rPr>
              <a:t>STEP 07</a:t>
            </a:r>
            <a:endParaRPr lang="en-US" sz="1100" dirty="0"/>
          </a:p>
        </p:txBody>
      </p:sp>
      <p:sp>
        <p:nvSpPr>
          <p:cNvPr id="24" name="obj128"/>
          <p:cNvSpPr txBox="1"/>
          <p:nvPr/>
        </p:nvSpPr>
        <p:spPr>
          <a:xfrm>
            <a:off x="6451092" y="2039112"/>
            <a:ext cx="219227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 Approval Decision</a:t>
            </a:r>
            <a:endParaRPr lang="en-US" sz="1600" dirty="0"/>
          </a:p>
        </p:txBody>
      </p:sp>
      <p:sp>
        <p:nvSpPr>
          <p:cNvPr id="25" name="obj129"/>
          <p:cNvSpPr txBox="1"/>
          <p:nvPr/>
        </p:nvSpPr>
        <p:spPr>
          <a:xfrm>
            <a:off x="6451092" y="2606040"/>
            <a:ext cx="219227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6"/>
                </a:solidFill>
              </a:rPr>
              <a:t>Head Office</a:t>
            </a:r>
            <a:endParaRPr lang="en-US" sz="1200" dirty="0"/>
          </a:p>
        </p:txBody>
      </p:sp>
      <p:sp>
        <p:nvSpPr>
          <p:cNvPr id="26" name="obj130"/>
          <p:cNvSpPr txBox="1"/>
          <p:nvPr/>
        </p:nvSpPr>
        <p:spPr>
          <a:xfrm>
            <a:off x="6451092" y="2898648"/>
            <a:ext cx="219227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HO approves the terms or returns the proposal. Rejected proposals are revised and resubmitted.</a:t>
            </a:r>
            <a:endParaRPr lang="en-US" sz="1200" dirty="0"/>
          </a:p>
        </p:txBody>
      </p:sp>
      <p:sp>
        <p:nvSpPr>
          <p:cNvPr id="27" name="obj131"/>
          <p:cNvSpPr txBox="1"/>
          <p:nvPr/>
        </p:nvSpPr>
        <p:spPr>
          <a:xfrm>
            <a:off x="6451092" y="3886200"/>
            <a:ext cx="219227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Approve on P&amp;L and cost basis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If revision needed, back to costing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Record approved rates</a:t>
            </a:r>
            <a:endParaRPr lang="en-US" sz="1200" dirty="0"/>
          </a:p>
        </p:txBody>
      </p:sp>
      <p:sp>
        <p:nvSpPr>
          <p:cNvPr id="28" name="obj132"/>
          <p:cNvSpPr/>
          <p:nvPr/>
        </p:nvSpPr>
        <p:spPr>
          <a:xfrm>
            <a:off x="6405372" y="5440680"/>
            <a:ext cx="2283714" cy="548640"/>
          </a:xfrm>
          <a:prstGeom prst="roundRect">
            <a:avLst>
              <a:gd name="adj" fmla="val 10000"/>
            </a:avLst>
          </a:prstGeom>
          <a:solidFill>
            <a:schemeClr val="accent2">
              <a:alpha val="15000"/>
            </a:schemeClr>
          </a:solidFill>
          <a:ln/>
        </p:spPr>
      </p:sp>
      <p:sp>
        <p:nvSpPr>
          <p:cNvPr id="29" name="obj133"/>
          <p:cNvSpPr txBox="1"/>
          <p:nvPr/>
        </p:nvSpPr>
        <p:spPr>
          <a:xfrm>
            <a:off x="6524244" y="5468112"/>
            <a:ext cx="204597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A8630A"/>
                </a:solidFill>
              </a:rPr>
              <a:t>OUTPUT</a:t>
            </a:r>
            <a:endParaRPr lang="en-US" sz="900" dirty="0"/>
          </a:p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Approved commercial terms</a:t>
            </a:r>
            <a:endParaRPr lang="en-US" sz="900" dirty="0"/>
          </a:p>
        </p:txBody>
      </p:sp>
      <p:sp>
        <p:nvSpPr>
          <p:cNvPr id="30" name="obj134"/>
          <p:cNvSpPr/>
          <p:nvPr/>
        </p:nvSpPr>
        <p:spPr>
          <a:xfrm>
            <a:off x="8917686" y="3726180"/>
            <a:ext cx="164592" cy="274320"/>
          </a:xfrm>
          <a:prstGeom prst="chevron">
            <a:avLst/>
          </a:prstGeom>
          <a:solidFill>
            <a:schemeClr val="accent6"/>
          </a:solidFill>
          <a:ln/>
        </p:spPr>
      </p:sp>
      <p:sp>
        <p:nvSpPr>
          <p:cNvPr id="31" name="obj135"/>
          <p:cNvSpPr/>
          <p:nvPr/>
        </p:nvSpPr>
        <p:spPr>
          <a:xfrm>
            <a:off x="9173718" y="1600200"/>
            <a:ext cx="2558034" cy="4526280"/>
          </a:xfrm>
          <a:prstGeom prst="roundRect">
            <a:avLst>
              <a:gd name="adj" fmla="val 3575"/>
            </a:avLst>
          </a:prstGeom>
          <a:solidFill>
            <a:schemeClr val="bg1"/>
          </a:solidFill>
          <a:ln w="15875">
            <a:solidFill>
              <a:schemeClr val="accent2"/>
            </a:solidFill>
            <a:prstDash val="solid"/>
          </a:ln>
          <a:effectLst>
            <a:outerShdw sx="100000" sy="100000" kx="0" ky="0" algn="bl" rotWithShape="0" blurRad="76200" dist="25400" dir="5400000">
              <a:srgbClr val="14243A">
                <a:alpha val="8000"/>
              </a:srgbClr>
            </a:outerShdw>
          </a:effectLst>
        </p:spPr>
      </p:sp>
      <p:sp>
        <p:nvSpPr>
          <p:cNvPr id="32" name="obj136"/>
          <p:cNvSpPr txBox="1"/>
          <p:nvPr/>
        </p:nvSpPr>
        <p:spPr>
          <a:xfrm>
            <a:off x="9356598" y="1783080"/>
            <a:ext cx="219227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630A"/>
                </a:solidFill>
              </a:rPr>
              <a:t>STEP 08</a:t>
            </a:r>
            <a:endParaRPr lang="en-US" sz="1100" dirty="0"/>
          </a:p>
        </p:txBody>
      </p:sp>
      <p:sp>
        <p:nvSpPr>
          <p:cNvPr id="33" name="obj137"/>
          <p:cNvSpPr txBox="1"/>
          <p:nvPr/>
        </p:nvSpPr>
        <p:spPr>
          <a:xfrm>
            <a:off x="9356598" y="2039112"/>
            <a:ext cx="219227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Quotation &amp; Acceptance</a:t>
            </a:r>
            <a:endParaRPr lang="en-US" sz="1600" dirty="0"/>
          </a:p>
        </p:txBody>
      </p:sp>
      <p:sp>
        <p:nvSpPr>
          <p:cNvPr id="34" name="obj138"/>
          <p:cNvSpPr txBox="1"/>
          <p:nvPr/>
        </p:nvSpPr>
        <p:spPr>
          <a:xfrm>
            <a:off x="9356598" y="2606040"/>
            <a:ext cx="219227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6"/>
                </a:solidFill>
              </a:rPr>
              <a:t>Sales + Customer</a:t>
            </a:r>
            <a:endParaRPr lang="en-US" sz="1200" dirty="0"/>
          </a:p>
        </p:txBody>
      </p:sp>
      <p:sp>
        <p:nvSpPr>
          <p:cNvPr id="35" name="obj139"/>
          <p:cNvSpPr txBox="1"/>
          <p:nvPr/>
        </p:nvSpPr>
        <p:spPr>
          <a:xfrm>
            <a:off x="9356598" y="2898648"/>
            <a:ext cx="219227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After HO approval, Sales issues the final quotation. Acceptance is required before code creation.</a:t>
            </a:r>
            <a:endParaRPr lang="en-US" sz="1200" dirty="0"/>
          </a:p>
        </p:txBody>
      </p:sp>
      <p:sp>
        <p:nvSpPr>
          <p:cNvPr id="36" name="obj140"/>
          <p:cNvSpPr txBox="1"/>
          <p:nvPr/>
        </p:nvSpPr>
        <p:spPr>
          <a:xfrm>
            <a:off x="9356598" y="3886200"/>
            <a:ext cx="219227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Send approved quotation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Confirm charges and terms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Obtain customer acceptance</a:t>
            </a:r>
            <a:endParaRPr lang="en-US" sz="1200" dirty="0"/>
          </a:p>
        </p:txBody>
      </p:sp>
      <p:sp>
        <p:nvSpPr>
          <p:cNvPr id="37" name="obj141"/>
          <p:cNvSpPr/>
          <p:nvPr/>
        </p:nvSpPr>
        <p:spPr>
          <a:xfrm>
            <a:off x="9310878" y="5440680"/>
            <a:ext cx="2283714" cy="548640"/>
          </a:xfrm>
          <a:prstGeom prst="roundRect">
            <a:avLst>
              <a:gd name="adj" fmla="val 10000"/>
            </a:avLst>
          </a:prstGeom>
          <a:solidFill>
            <a:schemeClr val="accent2">
              <a:alpha val="15000"/>
            </a:schemeClr>
          </a:solidFill>
          <a:ln/>
        </p:spPr>
      </p:sp>
      <p:sp>
        <p:nvSpPr>
          <p:cNvPr id="38" name="obj142"/>
          <p:cNvSpPr txBox="1"/>
          <p:nvPr/>
        </p:nvSpPr>
        <p:spPr>
          <a:xfrm>
            <a:off x="9429750" y="5468112"/>
            <a:ext cx="204597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A8630A"/>
                </a:solidFill>
              </a:rPr>
              <a:t>OUTPUT</a:t>
            </a:r>
            <a:endParaRPr lang="en-US" sz="900" dirty="0"/>
          </a:p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Accepted quotation</a:t>
            </a:r>
            <a:endParaRPr lang="en-US" sz="900" dirty="0"/>
          </a:p>
        </p:txBody>
      </p:sp>
      <p:sp>
        <p:nvSpPr>
          <p:cNvPr id="39" name="obj143"/>
          <p:cNvSpPr txBox="1"/>
          <p:nvPr/>
        </p:nvSpPr>
        <p:spPr>
          <a:xfrm>
            <a:off x="6268212" y="6199632"/>
            <a:ext cx="347243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3824F"/>
                </a:solidFill>
              </a:rPr>
              <a:t>Yes </a:t>
            </a:r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goes to quotation.  </a:t>
            </a:r>
            <a:pPr indent="0" marL="0">
              <a:buNone/>
            </a:pPr>
            <a:r>
              <a:rPr lang="en-US" sz="1100" b="1" dirty="0">
                <a:solidFill>
                  <a:schemeClr val="accent5"/>
                </a:solidFill>
              </a:rPr>
              <a:t>No </a:t>
            </a:r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loops back to Step 06.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32004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6"/>
                </a:solidFill>
              </a:rPr>
              <a:t>PHASE 3 · ONBOARDING &amp; EXECUTION · STEPS 09–10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621792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Rates are locked in ERP before the first booking</a:t>
            </a:r>
            <a:endParaRPr lang="en-US" sz="3200" dirty="0"/>
          </a:p>
        </p:txBody>
      </p:sp>
      <p:sp>
        <p:nvSpPr>
          <p:cNvPr id="4" name="obj144"/>
          <p:cNvSpPr/>
          <p:nvPr/>
        </p:nvSpPr>
        <p:spPr>
          <a:xfrm>
            <a:off x="457200" y="1600200"/>
            <a:ext cx="3383280" cy="4526280"/>
          </a:xfrm>
          <a:prstGeom prst="roundRect">
            <a:avLst>
              <a:gd name="adj" fmla="val 2703"/>
            </a:avLst>
          </a:prstGeom>
          <a:solidFill>
            <a:schemeClr val="bg1"/>
          </a:solidFill>
          <a:ln w="31750">
            <a:solidFill>
              <a:schemeClr val="accent5"/>
            </a:solidFill>
            <a:prstDash val="solid"/>
          </a:ln>
          <a:effectLst>
            <a:outerShdw sx="100000" sy="100000" kx="0" ky="0" algn="bl" rotWithShape="0" blurRad="76200" dist="25400" dir="5400000">
              <a:srgbClr val="14243A">
                <a:alpha val="8000"/>
              </a:srgbClr>
            </a:outerShdw>
          </a:effectLst>
        </p:spPr>
      </p:sp>
      <p:sp>
        <p:nvSpPr>
          <p:cNvPr id="5" name="obj145"/>
          <p:cNvSpPr txBox="1"/>
          <p:nvPr/>
        </p:nvSpPr>
        <p:spPr>
          <a:xfrm>
            <a:off x="640080" y="178308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5"/>
                </a:solidFill>
              </a:rPr>
              <a:t>STEP 09</a:t>
            </a:r>
            <a:endParaRPr lang="en-US" sz="1100" dirty="0"/>
          </a:p>
        </p:txBody>
      </p:sp>
      <p:sp>
        <p:nvSpPr>
          <p:cNvPr id="6" name="obj146"/>
          <p:cNvSpPr txBox="1"/>
          <p:nvPr/>
        </p:nvSpPr>
        <p:spPr>
          <a:xfrm>
            <a:off x="640080" y="2039112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Code &amp; ERP Rate Lock</a:t>
            </a:r>
            <a:endParaRPr lang="en-US" sz="1600" dirty="0"/>
          </a:p>
        </p:txBody>
      </p:sp>
      <p:sp>
        <p:nvSpPr>
          <p:cNvPr id="7" name="obj147"/>
          <p:cNvSpPr txBox="1"/>
          <p:nvPr/>
        </p:nvSpPr>
        <p:spPr>
          <a:xfrm>
            <a:off x="640080" y="260604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6"/>
                </a:solidFill>
              </a:rPr>
              <a:t>ERP / Authorized Team</a:t>
            </a:r>
            <a:endParaRPr lang="en-US" sz="1200" dirty="0"/>
          </a:p>
        </p:txBody>
      </p:sp>
      <p:sp>
        <p:nvSpPr>
          <p:cNvPr id="8" name="obj148"/>
          <p:cNvSpPr txBox="1"/>
          <p:nvPr/>
        </p:nvSpPr>
        <p:spPr>
          <a:xfrm>
            <a:off x="640080" y="2898648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Create the customer code after acceptance and lock approved rates in ERP before any booking.</a:t>
            </a:r>
            <a:endParaRPr lang="en-US" sz="1200" dirty="0"/>
          </a:p>
        </p:txBody>
      </p:sp>
      <p:sp>
        <p:nvSpPr>
          <p:cNvPr id="9" name="obj149"/>
          <p:cNvSpPr txBox="1"/>
          <p:nvPr/>
        </p:nvSpPr>
        <p:spPr>
          <a:xfrm>
            <a:off x="640080" y="3886200"/>
            <a:ext cx="3017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Create customer master / code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Configure approved rates and charges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Confirm lock before first booking</a:t>
            </a:r>
            <a:endParaRPr lang="en-US" sz="1200" dirty="0"/>
          </a:p>
        </p:txBody>
      </p:sp>
      <p:sp>
        <p:nvSpPr>
          <p:cNvPr id="10" name="obj150"/>
          <p:cNvSpPr/>
          <p:nvPr/>
        </p:nvSpPr>
        <p:spPr>
          <a:xfrm>
            <a:off x="594360" y="5440680"/>
            <a:ext cx="3108960" cy="548640"/>
          </a:xfrm>
          <a:prstGeom prst="roundRect">
            <a:avLst>
              <a:gd name="adj" fmla="val 10000"/>
            </a:avLst>
          </a:prstGeom>
          <a:solidFill>
            <a:schemeClr val="accent3">
              <a:alpha val="15000"/>
            </a:schemeClr>
          </a:solidFill>
          <a:ln/>
        </p:spPr>
      </p:sp>
      <p:sp>
        <p:nvSpPr>
          <p:cNvPr id="11" name="obj151"/>
          <p:cNvSpPr txBox="1"/>
          <p:nvPr/>
        </p:nvSpPr>
        <p:spPr>
          <a:xfrm>
            <a:off x="713232" y="5468112"/>
            <a:ext cx="287121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4B55C9"/>
                </a:solidFill>
              </a:rPr>
              <a:t>OUTPUT</a:t>
            </a:r>
            <a:endParaRPr lang="en-US" sz="900" dirty="0"/>
          </a:p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Booking-ready ERP account</a:t>
            </a:r>
            <a:endParaRPr lang="en-US" sz="900" dirty="0"/>
          </a:p>
        </p:txBody>
      </p:sp>
      <p:sp>
        <p:nvSpPr>
          <p:cNvPr id="12" name="obj152"/>
          <p:cNvSpPr/>
          <p:nvPr/>
        </p:nvSpPr>
        <p:spPr>
          <a:xfrm>
            <a:off x="3931920" y="3726180"/>
            <a:ext cx="164592" cy="274320"/>
          </a:xfrm>
          <a:prstGeom prst="chevron">
            <a:avLst/>
          </a:prstGeom>
          <a:solidFill>
            <a:schemeClr val="accent6"/>
          </a:solidFill>
          <a:ln/>
        </p:spPr>
      </p:sp>
      <p:sp>
        <p:nvSpPr>
          <p:cNvPr id="13" name="obj153"/>
          <p:cNvSpPr/>
          <p:nvPr/>
        </p:nvSpPr>
        <p:spPr>
          <a:xfrm>
            <a:off x="4187952" y="1600200"/>
            <a:ext cx="3383280" cy="4526280"/>
          </a:xfrm>
          <a:prstGeom prst="roundRect">
            <a:avLst>
              <a:gd name="adj" fmla="val 2703"/>
            </a:avLst>
          </a:prstGeom>
          <a:solidFill>
            <a:schemeClr val="bg1"/>
          </a:solidFill>
          <a:ln w="15875">
            <a:solidFill>
              <a:schemeClr val="accent3"/>
            </a:solidFill>
            <a:prstDash val="solid"/>
          </a:ln>
          <a:effectLst>
            <a:outerShdw sx="100000" sy="100000" kx="0" ky="0" algn="bl" rotWithShape="0" blurRad="76200" dist="25400" dir="5400000">
              <a:srgbClr val="14243A">
                <a:alpha val="8000"/>
              </a:srgbClr>
            </a:outerShdw>
          </a:effectLst>
        </p:spPr>
      </p:sp>
      <p:sp>
        <p:nvSpPr>
          <p:cNvPr id="14" name="obj154"/>
          <p:cNvSpPr txBox="1"/>
          <p:nvPr/>
        </p:nvSpPr>
        <p:spPr>
          <a:xfrm>
            <a:off x="4370832" y="178308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B55C9"/>
                </a:solidFill>
              </a:rPr>
              <a:t>STEP 10</a:t>
            </a:r>
            <a:endParaRPr lang="en-US" sz="1100" dirty="0"/>
          </a:p>
        </p:txBody>
      </p:sp>
      <p:sp>
        <p:nvSpPr>
          <p:cNvPr id="15" name="obj155"/>
          <p:cNvSpPr txBox="1"/>
          <p:nvPr/>
        </p:nvSpPr>
        <p:spPr>
          <a:xfrm>
            <a:off x="4370832" y="2039112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Origin Branch Booking</a:t>
            </a:r>
            <a:endParaRPr lang="en-US" sz="1600" dirty="0"/>
          </a:p>
        </p:txBody>
      </p:sp>
      <p:sp>
        <p:nvSpPr>
          <p:cNvPr id="16" name="obj156"/>
          <p:cNvSpPr txBox="1"/>
          <p:nvPr/>
        </p:nvSpPr>
        <p:spPr>
          <a:xfrm>
            <a:off x="4370832" y="260604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6"/>
                </a:solidFill>
              </a:rPr>
              <a:t>Concerned Origin Branch</a:t>
            </a:r>
            <a:endParaRPr lang="en-US" sz="1200" dirty="0"/>
          </a:p>
        </p:txBody>
      </p:sp>
      <p:sp>
        <p:nvSpPr>
          <p:cNvPr id="17" name="obj157"/>
          <p:cNvSpPr txBox="1"/>
          <p:nvPr/>
        </p:nvSpPr>
        <p:spPr>
          <a:xfrm>
            <a:off x="4370832" y="2898648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The customer books shipments at the Sugam branch for the material's origin location.</a:t>
            </a:r>
            <a:endParaRPr lang="en-US" sz="1200" dirty="0"/>
          </a:p>
        </p:txBody>
      </p:sp>
      <p:sp>
        <p:nvSpPr>
          <p:cNvPr id="18" name="obj158"/>
          <p:cNvSpPr txBox="1"/>
          <p:nvPr/>
        </p:nvSpPr>
        <p:spPr>
          <a:xfrm>
            <a:off x="4370832" y="3886200"/>
            <a:ext cx="3017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Receive booking at origin branch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Use customer code and locked rates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Book as per operating procedure</a:t>
            </a:r>
            <a:endParaRPr lang="en-US" sz="1200" dirty="0"/>
          </a:p>
        </p:txBody>
      </p:sp>
      <p:sp>
        <p:nvSpPr>
          <p:cNvPr id="19" name="obj159"/>
          <p:cNvSpPr/>
          <p:nvPr/>
        </p:nvSpPr>
        <p:spPr>
          <a:xfrm>
            <a:off x="4325112" y="5440680"/>
            <a:ext cx="3108960" cy="548640"/>
          </a:xfrm>
          <a:prstGeom prst="roundRect">
            <a:avLst>
              <a:gd name="adj" fmla="val 10000"/>
            </a:avLst>
          </a:prstGeom>
          <a:solidFill>
            <a:schemeClr val="accent3">
              <a:alpha val="15000"/>
            </a:schemeClr>
          </a:solidFill>
          <a:ln/>
        </p:spPr>
      </p:sp>
      <p:sp>
        <p:nvSpPr>
          <p:cNvPr id="20" name="obj160"/>
          <p:cNvSpPr txBox="1"/>
          <p:nvPr/>
        </p:nvSpPr>
        <p:spPr>
          <a:xfrm>
            <a:off x="4443984" y="5468112"/>
            <a:ext cx="287121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4B55C9"/>
                </a:solidFill>
              </a:rPr>
              <a:t>OUTPUT</a:t>
            </a:r>
            <a:endParaRPr lang="en-US" sz="900" dirty="0"/>
          </a:p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Booked consignments</a:t>
            </a:r>
            <a:endParaRPr lang="en-US" sz="900" dirty="0"/>
          </a:p>
        </p:txBody>
      </p:sp>
      <p:sp>
        <p:nvSpPr>
          <p:cNvPr id="21" name="obj161"/>
          <p:cNvSpPr/>
          <p:nvPr/>
        </p:nvSpPr>
        <p:spPr>
          <a:xfrm>
            <a:off x="8010144" y="1600200"/>
            <a:ext cx="3721608" cy="4526280"/>
          </a:xfrm>
          <a:prstGeom prst="roundRect">
            <a:avLst>
              <a:gd name="adj" fmla="val 2457"/>
            </a:avLst>
          </a:prstGeom>
          <a:solidFill>
            <a:schemeClr val="accent5">
              <a:alpha val="10000"/>
            </a:schemeClr>
          </a:solidFill>
          <a:ln/>
        </p:spPr>
      </p:sp>
      <p:sp>
        <p:nvSpPr>
          <p:cNvPr id="22" name="obj162"/>
          <p:cNvSpPr txBox="1"/>
          <p:nvPr/>
        </p:nvSpPr>
        <p:spPr>
          <a:xfrm>
            <a:off x="8330184" y="1920240"/>
            <a:ext cx="3081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5"/>
                </a:solidFill>
              </a:rPr>
              <a:t>CONTROL GATE</a:t>
            </a:r>
            <a:endParaRPr lang="en-US" sz="1200" dirty="0"/>
          </a:p>
        </p:txBody>
      </p:sp>
      <p:sp>
        <p:nvSpPr>
          <p:cNvPr id="23" name="obj163"/>
          <p:cNvSpPr txBox="1"/>
          <p:nvPr/>
        </p:nvSpPr>
        <p:spPr>
          <a:xfrm>
            <a:off x="8330184" y="2240280"/>
            <a:ext cx="3081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booking before rate lock</a:t>
            </a:r>
            <a:endParaRPr lang="en-US" sz="2000" dirty="0"/>
          </a:p>
        </p:txBody>
      </p:sp>
      <p:sp>
        <p:nvSpPr>
          <p:cNvPr id="24" name="obj164"/>
          <p:cNvSpPr txBox="1"/>
          <p:nvPr/>
        </p:nvSpPr>
        <p:spPr>
          <a:xfrm>
            <a:off x="8330184" y="2926080"/>
            <a:ext cx="308152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1.  Quotation accepted by customer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accent6"/>
                </a:solidFill>
              </a:rPr>
              <a:t>Customer code is created only after acceptance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2.  Approved rates locked in ERP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accent6"/>
                </a:solidFill>
              </a:rPr>
              <a:t>Rates and applicable charges configured in the customer account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3.  Branch books at locked rates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accent6"/>
                </a:solidFill>
              </a:rPr>
              <a:t>Origin branch uses the customer code; no manual rates</a:t>
            </a:r>
            <a:endParaRPr lang="en-US" sz="1400" dirty="0"/>
          </a:p>
        </p:txBody>
      </p:sp>
      <p:sp>
        <p:nvSpPr>
          <p:cNvPr id="25" name="obj165"/>
          <p:cNvSpPr txBox="1"/>
          <p:nvPr/>
        </p:nvSpPr>
        <p:spPr>
          <a:xfrm>
            <a:off x="8330184" y="5257800"/>
            <a:ext cx="30815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chemeClr val="tx1"/>
                </a:solidFill>
              </a:rPr>
              <a:t>Why it matters: system rate locking protects HO-approved commercial terms before operations begin.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32004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6"/>
                </a:solidFill>
              </a:rPr>
              <a:t>PHASE 4 · BILLING &amp; COLLECTION · STEPS 11–12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621792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Billed monthly, collected by agreed due date</a:t>
            </a:r>
            <a:endParaRPr lang="en-US" sz="3200" dirty="0"/>
          </a:p>
        </p:txBody>
      </p:sp>
      <p:sp>
        <p:nvSpPr>
          <p:cNvPr id="4" name="obj166"/>
          <p:cNvSpPr/>
          <p:nvPr/>
        </p:nvSpPr>
        <p:spPr>
          <a:xfrm>
            <a:off x="457200" y="1600200"/>
            <a:ext cx="3383280" cy="4526280"/>
          </a:xfrm>
          <a:prstGeom prst="roundRect">
            <a:avLst>
              <a:gd name="adj" fmla="val 2703"/>
            </a:avLst>
          </a:prstGeom>
          <a:solidFill>
            <a:schemeClr val="bg1"/>
          </a:solidFill>
          <a:ln w="15875">
            <a:solidFill>
              <a:schemeClr val="accent4"/>
            </a:solidFill>
            <a:prstDash val="solid"/>
          </a:ln>
          <a:effectLst>
            <a:outerShdw sx="100000" sy="100000" kx="0" ky="0" algn="bl" rotWithShape="0" blurRad="76200" dist="25400" dir="5400000">
              <a:srgbClr val="14243A">
                <a:alpha val="8000"/>
              </a:srgbClr>
            </a:outerShdw>
          </a:effectLst>
        </p:spPr>
      </p:sp>
      <p:sp>
        <p:nvSpPr>
          <p:cNvPr id="5" name="obj167"/>
          <p:cNvSpPr txBox="1"/>
          <p:nvPr/>
        </p:nvSpPr>
        <p:spPr>
          <a:xfrm>
            <a:off x="640080" y="178308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3824F"/>
                </a:solidFill>
              </a:rPr>
              <a:t>STEP 11</a:t>
            </a:r>
            <a:endParaRPr lang="en-US" sz="1100" dirty="0"/>
          </a:p>
        </p:txBody>
      </p:sp>
      <p:sp>
        <p:nvSpPr>
          <p:cNvPr id="6" name="obj168"/>
          <p:cNvSpPr txBox="1"/>
          <p:nvPr/>
        </p:nvSpPr>
        <p:spPr>
          <a:xfrm>
            <a:off x="640080" y="2039112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Billing &amp; Credit Terms</a:t>
            </a:r>
            <a:endParaRPr lang="en-US" sz="1600" dirty="0"/>
          </a:p>
        </p:txBody>
      </p:sp>
      <p:sp>
        <p:nvSpPr>
          <p:cNvPr id="7" name="obj169"/>
          <p:cNvSpPr txBox="1"/>
          <p:nvPr/>
        </p:nvSpPr>
        <p:spPr>
          <a:xfrm>
            <a:off x="640080" y="260604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6"/>
                </a:solidFill>
              </a:rPr>
              <a:t>Billing / Accounts</a:t>
            </a:r>
            <a:endParaRPr lang="en-US" sz="1200" dirty="0"/>
          </a:p>
        </p:txBody>
      </p:sp>
      <p:sp>
        <p:nvSpPr>
          <p:cNvPr id="8" name="obj170"/>
          <p:cNvSpPr txBox="1"/>
          <p:nvPr/>
        </p:nvSpPr>
        <p:spPr>
          <a:xfrm>
            <a:off x="640080" y="2898648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Invoices are raised monthly. The credit period depends on agreed terms, such as 15, 30 or 90 days.</a:t>
            </a:r>
            <a:endParaRPr lang="en-US" sz="1200" dirty="0"/>
          </a:p>
        </p:txBody>
      </p:sp>
      <p:sp>
        <p:nvSpPr>
          <p:cNvPr id="9" name="obj171"/>
          <p:cNvSpPr txBox="1"/>
          <p:nvPr/>
        </p:nvSpPr>
        <p:spPr>
          <a:xfrm>
            <a:off x="640080" y="3886200"/>
            <a:ext cx="3017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Consolidate monthly bookings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Generate and submit invoice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Apply customer due date</a:t>
            </a:r>
            <a:endParaRPr lang="en-US" sz="1200" dirty="0"/>
          </a:p>
        </p:txBody>
      </p:sp>
      <p:sp>
        <p:nvSpPr>
          <p:cNvPr id="10" name="obj172"/>
          <p:cNvSpPr/>
          <p:nvPr/>
        </p:nvSpPr>
        <p:spPr>
          <a:xfrm>
            <a:off x="594360" y="5440680"/>
            <a:ext cx="3108960" cy="548640"/>
          </a:xfrm>
          <a:prstGeom prst="roundRect">
            <a:avLst>
              <a:gd name="adj" fmla="val 10000"/>
            </a:avLst>
          </a:prstGeom>
          <a:solidFill>
            <a:schemeClr val="accent4">
              <a:alpha val="15000"/>
            </a:schemeClr>
          </a:solidFill>
          <a:ln/>
        </p:spPr>
      </p:sp>
      <p:sp>
        <p:nvSpPr>
          <p:cNvPr id="11" name="obj173"/>
          <p:cNvSpPr txBox="1"/>
          <p:nvPr/>
        </p:nvSpPr>
        <p:spPr>
          <a:xfrm>
            <a:off x="713232" y="5468112"/>
            <a:ext cx="287121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23824F"/>
                </a:solidFill>
              </a:rPr>
              <a:t>OUTPUT</a:t>
            </a:r>
            <a:endParaRPr lang="en-US" sz="900" dirty="0"/>
          </a:p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Invoice and due-date schedule</a:t>
            </a:r>
            <a:endParaRPr lang="en-US" sz="900" dirty="0"/>
          </a:p>
        </p:txBody>
      </p:sp>
      <p:sp>
        <p:nvSpPr>
          <p:cNvPr id="12" name="obj174"/>
          <p:cNvSpPr/>
          <p:nvPr/>
        </p:nvSpPr>
        <p:spPr>
          <a:xfrm>
            <a:off x="3931920" y="3726180"/>
            <a:ext cx="164592" cy="274320"/>
          </a:xfrm>
          <a:prstGeom prst="chevron">
            <a:avLst/>
          </a:prstGeom>
          <a:solidFill>
            <a:schemeClr val="accent6"/>
          </a:solidFill>
          <a:ln/>
        </p:spPr>
      </p:sp>
      <p:sp>
        <p:nvSpPr>
          <p:cNvPr id="13" name="obj175"/>
          <p:cNvSpPr/>
          <p:nvPr/>
        </p:nvSpPr>
        <p:spPr>
          <a:xfrm>
            <a:off x="4187952" y="1600200"/>
            <a:ext cx="3383280" cy="4526280"/>
          </a:xfrm>
          <a:prstGeom prst="roundRect">
            <a:avLst>
              <a:gd name="adj" fmla="val 2703"/>
            </a:avLst>
          </a:prstGeom>
          <a:solidFill>
            <a:schemeClr val="bg1"/>
          </a:solidFill>
          <a:ln w="15875">
            <a:solidFill>
              <a:schemeClr val="accent4"/>
            </a:solidFill>
            <a:prstDash val="solid"/>
          </a:ln>
          <a:effectLst>
            <a:outerShdw sx="100000" sy="100000" kx="0" ky="0" algn="bl" rotWithShape="0" blurRad="76200" dist="25400" dir="5400000">
              <a:srgbClr val="14243A">
                <a:alpha val="8000"/>
              </a:srgbClr>
            </a:outerShdw>
          </a:effectLst>
        </p:spPr>
      </p:sp>
      <p:sp>
        <p:nvSpPr>
          <p:cNvPr id="14" name="obj176"/>
          <p:cNvSpPr txBox="1"/>
          <p:nvPr/>
        </p:nvSpPr>
        <p:spPr>
          <a:xfrm>
            <a:off x="4370832" y="178308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3824F"/>
                </a:solidFill>
              </a:rPr>
              <a:t>STEP 12</a:t>
            </a:r>
            <a:endParaRPr lang="en-US" sz="1100" dirty="0"/>
          </a:p>
        </p:txBody>
      </p:sp>
      <p:sp>
        <p:nvSpPr>
          <p:cNvPr id="15" name="obj177"/>
          <p:cNvSpPr txBox="1"/>
          <p:nvPr/>
        </p:nvSpPr>
        <p:spPr>
          <a:xfrm>
            <a:off x="4370832" y="2039112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 Follow-up &amp; Closure</a:t>
            </a:r>
            <a:endParaRPr lang="en-US" sz="1600" dirty="0"/>
          </a:p>
        </p:txBody>
      </p:sp>
      <p:sp>
        <p:nvSpPr>
          <p:cNvPr id="16" name="obj178"/>
          <p:cNvSpPr txBox="1"/>
          <p:nvPr/>
        </p:nvSpPr>
        <p:spPr>
          <a:xfrm>
            <a:off x="4370832" y="260604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6"/>
                </a:solidFill>
              </a:rPr>
              <a:t>Accounts / Collection</a:t>
            </a:r>
            <a:endParaRPr lang="en-US" sz="1200" dirty="0"/>
          </a:p>
        </p:txBody>
      </p:sp>
      <p:sp>
        <p:nvSpPr>
          <p:cNvPr id="17" name="obj179"/>
          <p:cNvSpPr txBox="1"/>
          <p:nvPr/>
        </p:nvSpPr>
        <p:spPr>
          <a:xfrm>
            <a:off x="4370832" y="2898648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Follow up by due date. On receipt, record payment and adjust outstanding balances.</a:t>
            </a:r>
            <a:endParaRPr lang="en-US" sz="1200" dirty="0"/>
          </a:p>
        </p:txBody>
      </p:sp>
      <p:sp>
        <p:nvSpPr>
          <p:cNvPr id="18" name="obj180"/>
          <p:cNvSpPr txBox="1"/>
          <p:nvPr/>
        </p:nvSpPr>
        <p:spPr>
          <a:xfrm>
            <a:off x="4370832" y="3886200"/>
            <a:ext cx="3017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Track invoice-wise outstanding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Follow up for collection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Record receipt and reconcile</a:t>
            </a:r>
            <a:endParaRPr lang="en-US" sz="1200" dirty="0"/>
          </a:p>
        </p:txBody>
      </p:sp>
      <p:sp>
        <p:nvSpPr>
          <p:cNvPr id="19" name="obj181"/>
          <p:cNvSpPr/>
          <p:nvPr/>
        </p:nvSpPr>
        <p:spPr>
          <a:xfrm>
            <a:off x="4325112" y="5440680"/>
            <a:ext cx="3108960" cy="548640"/>
          </a:xfrm>
          <a:prstGeom prst="roundRect">
            <a:avLst>
              <a:gd name="adj" fmla="val 10000"/>
            </a:avLst>
          </a:prstGeom>
          <a:solidFill>
            <a:schemeClr val="accent4">
              <a:alpha val="15000"/>
            </a:schemeClr>
          </a:solidFill>
          <a:ln/>
        </p:spPr>
      </p:sp>
      <p:sp>
        <p:nvSpPr>
          <p:cNvPr id="20" name="obj182"/>
          <p:cNvSpPr txBox="1"/>
          <p:nvPr/>
        </p:nvSpPr>
        <p:spPr>
          <a:xfrm>
            <a:off x="4443984" y="5468112"/>
            <a:ext cx="287121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23824F"/>
                </a:solidFill>
              </a:rPr>
              <a:t>OUTPUT</a:t>
            </a:r>
            <a:endParaRPr lang="en-US" sz="900" dirty="0"/>
          </a:p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Payment reconciliation and closure</a:t>
            </a:r>
            <a:endParaRPr lang="en-US" sz="900" dirty="0"/>
          </a:p>
        </p:txBody>
      </p:sp>
      <p:sp>
        <p:nvSpPr>
          <p:cNvPr id="21" name="obj183"/>
          <p:cNvSpPr/>
          <p:nvPr/>
        </p:nvSpPr>
        <p:spPr>
          <a:xfrm>
            <a:off x="8010144" y="1600200"/>
            <a:ext cx="3721608" cy="4526280"/>
          </a:xfrm>
          <a:prstGeom prst="roundRect">
            <a:avLst>
              <a:gd name="adj" fmla="val 2457"/>
            </a:avLst>
          </a:prstGeom>
          <a:solidFill>
            <a:schemeClr val="accent4">
              <a:alpha val="10000"/>
            </a:schemeClr>
          </a:solidFill>
          <a:ln/>
        </p:spPr>
      </p:sp>
      <p:sp>
        <p:nvSpPr>
          <p:cNvPr id="22" name="obj184"/>
          <p:cNvSpPr txBox="1"/>
          <p:nvPr/>
        </p:nvSpPr>
        <p:spPr>
          <a:xfrm>
            <a:off x="8330184" y="1920240"/>
            <a:ext cx="3081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3824F"/>
                </a:solidFill>
              </a:rPr>
              <a:t>BILLING ≠ CREDIT PERIOD</a:t>
            </a:r>
            <a:endParaRPr lang="en-US" sz="1200" dirty="0"/>
          </a:p>
        </p:txBody>
      </p:sp>
      <p:sp>
        <p:nvSpPr>
          <p:cNvPr id="23" name="obj185"/>
          <p:cNvSpPr txBox="1"/>
          <p:nvPr/>
        </p:nvSpPr>
        <p:spPr>
          <a:xfrm>
            <a:off x="8330184" y="2240280"/>
            <a:ext cx="3081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invoice cycle, three credit periods</a:t>
            </a:r>
            <a:endParaRPr lang="en-US" sz="2000" dirty="0"/>
          </a:p>
        </p:txBody>
      </p:sp>
      <p:sp>
        <p:nvSpPr>
          <p:cNvPr id="24" name="obj186"/>
          <p:cNvSpPr/>
          <p:nvPr/>
        </p:nvSpPr>
        <p:spPr>
          <a:xfrm>
            <a:off x="8330184" y="2971800"/>
            <a:ext cx="905256" cy="1097280"/>
          </a:xfrm>
          <a:prstGeom prst="roundRect">
            <a:avLst>
              <a:gd name="adj" fmla="val 8081"/>
            </a:avLst>
          </a:prstGeom>
          <a:solidFill>
            <a:schemeClr val="bg1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5" name="obj187"/>
          <p:cNvSpPr txBox="1"/>
          <p:nvPr/>
        </p:nvSpPr>
        <p:spPr>
          <a:xfrm>
            <a:off x="8330184" y="3063240"/>
            <a:ext cx="9052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38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3600" dirty="0"/>
          </a:p>
        </p:txBody>
      </p:sp>
      <p:sp>
        <p:nvSpPr>
          <p:cNvPr id="26" name="obj188"/>
          <p:cNvSpPr txBox="1"/>
          <p:nvPr/>
        </p:nvSpPr>
        <p:spPr>
          <a:xfrm>
            <a:off x="8330184" y="3703320"/>
            <a:ext cx="905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days</a:t>
            </a:r>
            <a:endParaRPr lang="en-US" sz="1200" dirty="0"/>
          </a:p>
        </p:txBody>
      </p:sp>
      <p:sp>
        <p:nvSpPr>
          <p:cNvPr id="27" name="obj189"/>
          <p:cNvSpPr/>
          <p:nvPr/>
        </p:nvSpPr>
        <p:spPr>
          <a:xfrm>
            <a:off x="9418320" y="2971800"/>
            <a:ext cx="905256" cy="1097280"/>
          </a:xfrm>
          <a:prstGeom prst="roundRect">
            <a:avLst>
              <a:gd name="adj" fmla="val 8081"/>
            </a:avLst>
          </a:prstGeom>
          <a:solidFill>
            <a:schemeClr val="bg1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8" name="obj190"/>
          <p:cNvSpPr txBox="1"/>
          <p:nvPr/>
        </p:nvSpPr>
        <p:spPr>
          <a:xfrm>
            <a:off x="9418320" y="3063240"/>
            <a:ext cx="9052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38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3600" dirty="0"/>
          </a:p>
        </p:txBody>
      </p:sp>
      <p:sp>
        <p:nvSpPr>
          <p:cNvPr id="29" name="obj191"/>
          <p:cNvSpPr txBox="1"/>
          <p:nvPr/>
        </p:nvSpPr>
        <p:spPr>
          <a:xfrm>
            <a:off x="9418320" y="3703320"/>
            <a:ext cx="905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days</a:t>
            </a:r>
            <a:endParaRPr lang="en-US" sz="1200" dirty="0"/>
          </a:p>
        </p:txBody>
      </p:sp>
      <p:sp>
        <p:nvSpPr>
          <p:cNvPr id="30" name="obj192"/>
          <p:cNvSpPr/>
          <p:nvPr/>
        </p:nvSpPr>
        <p:spPr>
          <a:xfrm>
            <a:off x="10506456" y="2971800"/>
            <a:ext cx="905256" cy="1097280"/>
          </a:xfrm>
          <a:prstGeom prst="roundRect">
            <a:avLst>
              <a:gd name="adj" fmla="val 8081"/>
            </a:avLst>
          </a:prstGeom>
          <a:solidFill>
            <a:schemeClr val="bg1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31" name="obj193"/>
          <p:cNvSpPr txBox="1"/>
          <p:nvPr/>
        </p:nvSpPr>
        <p:spPr>
          <a:xfrm>
            <a:off x="10506456" y="3063240"/>
            <a:ext cx="9052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38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</a:t>
            </a:r>
            <a:endParaRPr lang="en-US" sz="3600" dirty="0"/>
          </a:p>
        </p:txBody>
      </p:sp>
      <p:sp>
        <p:nvSpPr>
          <p:cNvPr id="32" name="obj194"/>
          <p:cNvSpPr txBox="1"/>
          <p:nvPr/>
        </p:nvSpPr>
        <p:spPr>
          <a:xfrm>
            <a:off x="10506456" y="3703320"/>
            <a:ext cx="905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days</a:t>
            </a:r>
            <a:endParaRPr lang="en-US" sz="1200" dirty="0"/>
          </a:p>
        </p:txBody>
      </p:sp>
      <p:sp>
        <p:nvSpPr>
          <p:cNvPr id="33" name="obj195"/>
          <p:cNvSpPr txBox="1"/>
          <p:nvPr/>
        </p:nvSpPr>
        <p:spPr>
          <a:xfrm>
            <a:off x="8330184" y="4343400"/>
            <a:ext cx="30815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Every customer is invoiced monthly. The due date then follows the credit period agreed for that customer, and collection follow-up runs against that date.</a:t>
            </a:r>
            <a:endParaRPr lang="en-US" sz="1300" dirty="0"/>
          </a:p>
        </p:txBody>
      </p:sp>
      <p:sp>
        <p:nvSpPr>
          <p:cNvPr id="34" name="obj196"/>
          <p:cNvSpPr txBox="1"/>
          <p:nvPr/>
        </p:nvSpPr>
        <p:spPr>
          <a:xfrm>
            <a:off x="8330184" y="5349240"/>
            <a:ext cx="3081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chemeClr val="tx1"/>
                </a:solidFill>
              </a:rPr>
              <a:t>Closure is based on actual receipt and adjustment of outstanding balances.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32004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FDCD5"/>
                </a:solidFill>
              </a:rPr>
              <a:t>MANDATORY SEQUENCE POINTS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621792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Five points in the journey that cannot be skipped</a:t>
            </a:r>
            <a:endParaRPr lang="en-US" sz="3200" dirty="0"/>
          </a:p>
        </p:txBody>
      </p:sp>
      <p:sp>
        <p:nvSpPr>
          <p:cNvPr id="4" name="obj197"/>
          <p:cNvSpPr/>
          <p:nvPr/>
        </p:nvSpPr>
        <p:spPr>
          <a:xfrm>
            <a:off x="1474927" y="2331720"/>
            <a:ext cx="9239098" cy="0"/>
          </a:xfrm>
          <a:prstGeom prst="line">
            <a:avLst/>
          </a:prstGeom>
          <a:noFill/>
          <a:ln w="25400">
            <a:solidFill>
              <a:srgbClr val="3E5A78"/>
            </a:solidFill>
            <a:prstDash val="solid"/>
          </a:ln>
        </p:spPr>
      </p:sp>
      <p:sp>
        <p:nvSpPr>
          <p:cNvPr id="5" name="obj198"/>
          <p:cNvSpPr/>
          <p:nvPr/>
        </p:nvSpPr>
        <p:spPr>
          <a:xfrm>
            <a:off x="1109167" y="1965960"/>
            <a:ext cx="731520" cy="731520"/>
          </a:xfrm>
          <a:prstGeom prst="ellipse">
            <a:avLst/>
          </a:prstGeom>
          <a:solidFill>
            <a:schemeClr val="accent5"/>
          </a:solidFill>
          <a:ln w="50800">
            <a:solidFill>
              <a:schemeClr val="tx1"/>
            </a:solidFill>
            <a:prstDash val="solid"/>
          </a:ln>
        </p:spPr>
      </p:sp>
      <p:sp>
        <p:nvSpPr>
          <p:cNvPr id="6" name="obj199"/>
          <p:cNvSpPr txBox="1"/>
          <p:nvPr/>
        </p:nvSpPr>
        <p:spPr>
          <a:xfrm>
            <a:off x="1109167" y="19659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obj200"/>
          <p:cNvSpPr txBox="1"/>
          <p:nvPr/>
        </p:nvSpPr>
        <p:spPr>
          <a:xfrm>
            <a:off x="457200" y="2971800"/>
            <a:ext cx="203545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7FDCD5"/>
                </a:solidFill>
              </a:rPr>
              <a:t>STEP 07–08</a:t>
            </a:r>
            <a:endParaRPr lang="en-US" sz="1100" dirty="0"/>
          </a:p>
        </p:txBody>
      </p:sp>
      <p:sp>
        <p:nvSpPr>
          <p:cNvPr id="8" name="obj201"/>
          <p:cNvSpPr txBox="1"/>
          <p:nvPr/>
        </p:nvSpPr>
        <p:spPr>
          <a:xfrm>
            <a:off x="457200" y="3246120"/>
            <a:ext cx="203545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HO-approved quotation</a:t>
            </a:r>
            <a:endParaRPr lang="en-US" sz="1700" dirty="0"/>
          </a:p>
        </p:txBody>
      </p:sp>
      <p:sp>
        <p:nvSpPr>
          <p:cNvPr id="9" name="obj202"/>
          <p:cNvSpPr txBox="1"/>
          <p:nvPr/>
        </p:nvSpPr>
        <p:spPr>
          <a:xfrm>
            <a:off x="548640" y="3977640"/>
            <a:ext cx="185257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EB"/>
                </a:solidFill>
              </a:rPr>
              <a:t>Final quotation only after HO approves P&amp;L and costing</a:t>
            </a:r>
            <a:endParaRPr lang="en-US" sz="1300" dirty="0"/>
          </a:p>
        </p:txBody>
      </p:sp>
      <p:sp>
        <p:nvSpPr>
          <p:cNvPr id="10" name="obj203"/>
          <p:cNvSpPr/>
          <p:nvPr/>
        </p:nvSpPr>
        <p:spPr>
          <a:xfrm>
            <a:off x="3418942" y="1965960"/>
            <a:ext cx="731520" cy="731520"/>
          </a:xfrm>
          <a:prstGeom prst="ellipse">
            <a:avLst/>
          </a:prstGeom>
          <a:solidFill>
            <a:schemeClr val="accent1"/>
          </a:solidFill>
          <a:ln w="50800">
            <a:solidFill>
              <a:schemeClr val="tx1"/>
            </a:solidFill>
            <a:prstDash val="solid"/>
          </a:ln>
        </p:spPr>
      </p:sp>
      <p:sp>
        <p:nvSpPr>
          <p:cNvPr id="11" name="obj204"/>
          <p:cNvSpPr txBox="1"/>
          <p:nvPr/>
        </p:nvSpPr>
        <p:spPr>
          <a:xfrm>
            <a:off x="3418942" y="19659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obj205"/>
          <p:cNvSpPr txBox="1"/>
          <p:nvPr/>
        </p:nvSpPr>
        <p:spPr>
          <a:xfrm>
            <a:off x="2766974" y="2971800"/>
            <a:ext cx="203545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7FDCD5"/>
                </a:solidFill>
              </a:rPr>
              <a:t>STEP 08</a:t>
            </a:r>
            <a:endParaRPr lang="en-US" sz="1100" dirty="0"/>
          </a:p>
        </p:txBody>
      </p:sp>
      <p:sp>
        <p:nvSpPr>
          <p:cNvPr id="13" name="obj206"/>
          <p:cNvSpPr txBox="1"/>
          <p:nvPr/>
        </p:nvSpPr>
        <p:spPr>
          <a:xfrm>
            <a:off x="2766974" y="3246120"/>
            <a:ext cx="203545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acceptance</a:t>
            </a:r>
            <a:endParaRPr lang="en-US" sz="1700" dirty="0"/>
          </a:p>
        </p:txBody>
      </p:sp>
      <p:sp>
        <p:nvSpPr>
          <p:cNvPr id="14" name="obj207"/>
          <p:cNvSpPr txBox="1"/>
          <p:nvPr/>
        </p:nvSpPr>
        <p:spPr>
          <a:xfrm>
            <a:off x="2858414" y="3977640"/>
            <a:ext cx="185257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EB"/>
                </a:solidFill>
              </a:rPr>
              <a:t>Acceptance before customer code is created</a:t>
            </a:r>
            <a:endParaRPr lang="en-US" sz="1300" dirty="0"/>
          </a:p>
        </p:txBody>
      </p:sp>
      <p:sp>
        <p:nvSpPr>
          <p:cNvPr id="15" name="obj208"/>
          <p:cNvSpPr/>
          <p:nvPr/>
        </p:nvSpPr>
        <p:spPr>
          <a:xfrm>
            <a:off x="5728716" y="1965960"/>
            <a:ext cx="731520" cy="731520"/>
          </a:xfrm>
          <a:prstGeom prst="ellipse">
            <a:avLst/>
          </a:prstGeom>
          <a:solidFill>
            <a:schemeClr val="accent5"/>
          </a:solidFill>
          <a:ln w="50800">
            <a:solidFill>
              <a:schemeClr val="tx1"/>
            </a:solidFill>
            <a:prstDash val="solid"/>
          </a:ln>
        </p:spPr>
      </p:sp>
      <p:sp>
        <p:nvSpPr>
          <p:cNvPr id="16" name="obj209"/>
          <p:cNvSpPr txBox="1"/>
          <p:nvPr/>
        </p:nvSpPr>
        <p:spPr>
          <a:xfrm>
            <a:off x="5728716" y="19659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obj210"/>
          <p:cNvSpPr txBox="1"/>
          <p:nvPr/>
        </p:nvSpPr>
        <p:spPr>
          <a:xfrm>
            <a:off x="5076749" y="2971800"/>
            <a:ext cx="203545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7FDCD5"/>
                </a:solidFill>
              </a:rPr>
              <a:t>STEP 09</a:t>
            </a:r>
            <a:endParaRPr lang="en-US" sz="1100" dirty="0"/>
          </a:p>
        </p:txBody>
      </p:sp>
      <p:sp>
        <p:nvSpPr>
          <p:cNvPr id="18" name="obj211"/>
          <p:cNvSpPr txBox="1"/>
          <p:nvPr/>
        </p:nvSpPr>
        <p:spPr>
          <a:xfrm>
            <a:off x="5076749" y="3246120"/>
            <a:ext cx="203545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ERP rate lock</a:t>
            </a:r>
            <a:endParaRPr lang="en-US" sz="1700" dirty="0"/>
          </a:p>
        </p:txBody>
      </p:sp>
      <p:sp>
        <p:nvSpPr>
          <p:cNvPr id="19" name="obj212"/>
          <p:cNvSpPr txBox="1"/>
          <p:nvPr/>
        </p:nvSpPr>
        <p:spPr>
          <a:xfrm>
            <a:off x="5168189" y="3977640"/>
            <a:ext cx="185257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EB"/>
                </a:solidFill>
              </a:rPr>
              <a:t>Approved rates locked before any booking</a:t>
            </a:r>
            <a:endParaRPr lang="en-US" sz="1300" dirty="0"/>
          </a:p>
        </p:txBody>
      </p:sp>
      <p:sp>
        <p:nvSpPr>
          <p:cNvPr id="20" name="obj213"/>
          <p:cNvSpPr/>
          <p:nvPr/>
        </p:nvSpPr>
        <p:spPr>
          <a:xfrm>
            <a:off x="8038490" y="1965960"/>
            <a:ext cx="731520" cy="731520"/>
          </a:xfrm>
          <a:prstGeom prst="ellipse">
            <a:avLst/>
          </a:prstGeom>
          <a:solidFill>
            <a:schemeClr val="accent1"/>
          </a:solidFill>
          <a:ln w="50800">
            <a:solidFill>
              <a:schemeClr val="tx1"/>
            </a:solidFill>
            <a:prstDash val="solid"/>
          </a:ln>
        </p:spPr>
      </p:sp>
      <p:sp>
        <p:nvSpPr>
          <p:cNvPr id="21" name="obj214"/>
          <p:cNvSpPr txBox="1"/>
          <p:nvPr/>
        </p:nvSpPr>
        <p:spPr>
          <a:xfrm>
            <a:off x="8038490" y="19659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obj215"/>
          <p:cNvSpPr txBox="1"/>
          <p:nvPr/>
        </p:nvSpPr>
        <p:spPr>
          <a:xfrm>
            <a:off x="7386523" y="2971800"/>
            <a:ext cx="203545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7FDCD5"/>
                </a:solidFill>
              </a:rPr>
              <a:t>STEP 11</a:t>
            </a:r>
            <a:endParaRPr lang="en-US" sz="1100" dirty="0"/>
          </a:p>
        </p:txBody>
      </p:sp>
      <p:sp>
        <p:nvSpPr>
          <p:cNvPr id="23" name="obj216"/>
          <p:cNvSpPr txBox="1"/>
          <p:nvPr/>
        </p:nvSpPr>
        <p:spPr>
          <a:xfrm>
            <a:off x="7386523" y="3246120"/>
            <a:ext cx="203545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invoicing</a:t>
            </a:r>
            <a:endParaRPr lang="en-US" sz="1700" dirty="0"/>
          </a:p>
        </p:txBody>
      </p:sp>
      <p:sp>
        <p:nvSpPr>
          <p:cNvPr id="24" name="obj217"/>
          <p:cNvSpPr txBox="1"/>
          <p:nvPr/>
        </p:nvSpPr>
        <p:spPr>
          <a:xfrm>
            <a:off x="7477963" y="3977640"/>
            <a:ext cx="185257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EB"/>
                </a:solidFill>
              </a:rPr>
              <a:t>All customers billed monthly</a:t>
            </a:r>
            <a:endParaRPr lang="en-US" sz="1300" dirty="0"/>
          </a:p>
        </p:txBody>
      </p:sp>
      <p:sp>
        <p:nvSpPr>
          <p:cNvPr id="25" name="obj218"/>
          <p:cNvSpPr/>
          <p:nvPr/>
        </p:nvSpPr>
        <p:spPr>
          <a:xfrm>
            <a:off x="10348265" y="1965960"/>
            <a:ext cx="731520" cy="731520"/>
          </a:xfrm>
          <a:prstGeom prst="ellipse">
            <a:avLst/>
          </a:prstGeom>
          <a:solidFill>
            <a:schemeClr val="accent1"/>
          </a:solidFill>
          <a:ln w="50800">
            <a:solidFill>
              <a:schemeClr val="tx1"/>
            </a:solidFill>
            <a:prstDash val="solid"/>
          </a:ln>
        </p:spPr>
      </p:sp>
      <p:sp>
        <p:nvSpPr>
          <p:cNvPr id="26" name="obj219"/>
          <p:cNvSpPr txBox="1"/>
          <p:nvPr/>
        </p:nvSpPr>
        <p:spPr>
          <a:xfrm>
            <a:off x="10348265" y="19659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200" dirty="0"/>
          </a:p>
        </p:txBody>
      </p:sp>
      <p:sp>
        <p:nvSpPr>
          <p:cNvPr id="27" name="obj220"/>
          <p:cNvSpPr txBox="1"/>
          <p:nvPr/>
        </p:nvSpPr>
        <p:spPr>
          <a:xfrm>
            <a:off x="9696298" y="2971800"/>
            <a:ext cx="203545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7FDCD5"/>
                </a:solidFill>
              </a:rPr>
              <a:t>STEP 12</a:t>
            </a:r>
            <a:endParaRPr lang="en-US" sz="1100" dirty="0"/>
          </a:p>
        </p:txBody>
      </p:sp>
      <p:sp>
        <p:nvSpPr>
          <p:cNvPr id="28" name="obj221"/>
          <p:cNvSpPr txBox="1"/>
          <p:nvPr/>
        </p:nvSpPr>
        <p:spPr>
          <a:xfrm>
            <a:off x="9696298" y="3246120"/>
            <a:ext cx="203545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Due-date collection</a:t>
            </a:r>
            <a:endParaRPr lang="en-US" sz="1700" dirty="0"/>
          </a:p>
        </p:txBody>
      </p:sp>
      <p:sp>
        <p:nvSpPr>
          <p:cNvPr id="29" name="obj222"/>
          <p:cNvSpPr txBox="1"/>
          <p:nvPr/>
        </p:nvSpPr>
        <p:spPr>
          <a:xfrm>
            <a:off x="9787738" y="3977640"/>
            <a:ext cx="185257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EB"/>
                </a:solidFill>
              </a:rPr>
              <a:t>Follow-up by credit period; close on receipt</a:t>
            </a:r>
            <a:endParaRPr lang="en-US" sz="1300" dirty="0"/>
          </a:p>
        </p:txBody>
      </p:sp>
      <p:sp>
        <p:nvSpPr>
          <p:cNvPr id="30" name="obj223"/>
          <p:cNvSpPr txBox="1"/>
          <p:nvPr/>
        </p:nvSpPr>
        <p:spPr>
          <a:xfrm>
            <a:off x="457200" y="5120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566F"/>
                </a:solidFill>
              </a:rPr>
              <a:t>●  </a:t>
            </a:r>
            <a:pPr indent="0" marL="0">
              <a:buNone/>
            </a:pPr>
            <a:r>
              <a:rPr lang="en-US" sz="1200" dirty="0">
                <a:solidFill>
                  <a:srgbClr val="CADCEB"/>
                </a:solidFill>
              </a:rPr>
              <a:t>Control gate     </a:t>
            </a:r>
            <a:pPr indent="0" marL="0">
              <a:buNone/>
            </a:pPr>
            <a:r>
              <a:rPr lang="en-US" sz="1200" dirty="0">
                <a:solidFill>
                  <a:srgbClr val="17B8B1"/>
                </a:solidFill>
              </a:rPr>
              <a:t>●  </a:t>
            </a:r>
            <a:pPr indent="0" marL="0">
              <a:buNone/>
            </a:pPr>
            <a:r>
              <a:rPr lang="en-US" sz="1200" dirty="0">
                <a:solidFill>
                  <a:srgbClr val="CADCEB"/>
                </a:solidFill>
              </a:rPr>
              <a:t>Sequence point</a:t>
            </a:r>
            <a:endParaRPr lang="en-US" sz="1200" dirty="0"/>
          </a:p>
        </p:txBody>
      </p:sp>
      <p:sp>
        <p:nvSpPr>
          <p:cNvPr id="31" name="obj224"/>
          <p:cNvSpPr txBox="1"/>
          <p:nvPr/>
        </p:nvSpPr>
        <p:spPr>
          <a:xfrm>
            <a:off x="457200" y="60350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DB0C6"/>
                </a:solidFill>
              </a:rPr>
              <a:t>Based on the confirmed Sugam Group workflow. Department labels and ERP configuration should be validated before formal issue.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DB0C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ugam Journey">
  <a:themeElements>
    <a:clrScheme name="Sugam Journey">
      <a:dk1>
        <a:srgbClr val="14243A"/>
      </a:dk1>
      <a:lt1>
        <a:srgbClr val="FFFFFF"/>
      </a:lt1>
      <a:dk2>
        <a:srgbClr val="0E1B2D"/>
      </a:dk2>
      <a:lt2>
        <a:srgbClr val="F2F5F9"/>
      </a:lt2>
      <a:accent1>
        <a:srgbClr val="17B8B1"/>
      </a:accent1>
      <a:accent2>
        <a:srgbClr val="F5AD4C"/>
      </a:accent2>
      <a:accent3>
        <a:srgbClr val="7E88FA"/>
      </a:accent3>
      <a:accent4>
        <a:srgbClr val="53C98E"/>
      </a:accent4>
      <a:accent5>
        <a:srgbClr val="C0264B"/>
      </a:accent5>
      <a:accent6>
        <a:srgbClr val="5B6B80"/>
      </a:accent6>
      <a:hlink>
        <a:srgbClr val="0C7F7A"/>
      </a:hlink>
      <a:folHlink>
        <a:srgbClr val="4B55C9"/>
      </a:folHlink>
    </a:clrScheme>
    <a:fontScheme name="Sugam Journey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Sugam Group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Sugam Group Customer Journey</dc:title>
  <dc:subject>PptxGenJS Presentation</dc:subject>
  <dc:creator>PptxGenJS</dc:creator>
  <cp:lastModifiedBy>PptxGenJS</cp:lastModifiedBy>
  <cp:revision>1</cp:revision>
  <dcterms:created xsi:type="dcterms:W3CDTF">2026-10-18T06:10:56Z</dcterms:created>
  <dcterms:modified xsi:type="dcterms:W3CDTF">2026-10-18T06:10:56Z</dcterms:modified>
</cp:coreProperties>
</file>